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– CAPA
Bom dia / Boa tarde a todos. Meu nome é [nome] e vou apresentar o Projeto Final da disciplina DCC606 – Análise de Algoritmos da UFRR.
O trabalho aborda um problema real da Indústria 4.0: como posicionar gateways de comunicação em uma planta industrial de forma a maximizar a cobertura de sensores IIoT, respeitando restrições de orçamento e de qualidade de sinal.
A solução proposta utiliza Algoritmos Genéticos, que são meta-heurísticas inspiradas na evolução darwiniana e amplamente estudadas na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– MOTIVAÇÃO E PROBLEMA
O problema central deste trabalho nasce de três desafios simultâneos em plantas industriais:
1. AMBIENTE HOSTIL: O modelo de disco unitário — usado em análises teóricas de WSN [2] — assume propagação circular sem obstáculos. Na prática industrial, estruturas metálicas e paredes de concreto criam zonas de sombra imprevisíveis. O nosso modelo usa a equação log-distância com γ=2,7 e algoritmo de Liang-Barsky para detecção de obstáculos.
2. RESTRIÇÃO ENERGÉTICA: Sensores ESP32 operam com bateria de 5.000 mAh. Quanto maior a distância ao gateway, maior a potência de transmissão necessária, reduzindo a vida útil. A função de aptidão penaliza soluções com sensores distantes.
3. EXPLOSÃO COMBINATÓRIA: Com 15 candidatos a gateway, existem 2^15 = 32.768 subconjuntos binários possíveis. Cada subconjunto ainda tem espaço contínuo de coordenadas 3D para otimizar. Busca exaustiva é inviável.
Este cenário é formalmente classificado como NP-difícil [2], o que fundamenta a escolha dos Algoritmos Genéticos.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– FUNDAMENTAÇÃO TEÓRICA
COLUNA ESQUERDA — Algoritmos Genéticos [1]:
Janikow e Clair (1995) definem a distinção central entre genótipo (o cromossomo que o AG manipula) e fenótipo (a solução decodificada que é avaliada). No nosso sistema: genótipo = vetor binário de ativação + coordenadas reais; fenótipo = topologia física da rede IIoT.
A pressão de seleção é o parâmetro crítico: alta pressão converge rápido mas arriscamos ótimos locais. O Torneio k=5 tem custo O(1) por seleção; a Roleta tem custo O(N) — diferença relevante para populações grandes.
COLUNA DIREITA — Redes IIoT / WSN [2][3][4]:
Li et al. (2009) provam que encontrar o MCDS (Minimum Connected Dominating Set) é NP-difícil [2], fundamentando nossa escolha por meta-heurística.
Marks (2010) sistematiza que os objetivos de cobertura, vida útil e conectividade são conflitantes [3], motivando a função de aptidão multiobjetivo.
Cormen et al. (2009) fornecem a base para a análise de complexidade, especialmente para o qsort O(N log N) usado na ordenação da população a cada geração [4].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– FORMULAÇÃO MATEMÁTICA
CROMOSSOMO MISTO:
Cada indivíduo na população do AG é representado por um cromossomo com dois segmentos:
- Parte binária: 15 genes active[j] ∈ {0,1} decidindo quais gateways candidatos ativar.
- Parte real: 15×3 = 45 genes de coordenadas (x,y,z) para refinar as posições.
Tamanho total: 15×4 + 15×3×8 + 8 = 428 bytes por cromossomo.
MODELO DE PROPAGAÇÃO [2]:
A equação log-distância com γ=2,7 (ambiente industrial) calcula o RSSI esperado entre cada par sensor-gateway. O algoritmo de Liang-Barsky detecta se algum obstáculo intercepta a linha de visada, adicionando 20dB de atenuação.
FUNÇÃO DE APTIDÃO [3]:
A função multiobjetivo escalarizada combina três componentes normalizadas em [0,1]:
- Vida útil (peso 0,50): quanto maior o RSSI recebido, menor a corrente TX, maior a bateria dura.
- Latência (peso −0,30): minimiza distância média ao gateway mais próximo.
- Redundância (peso +0,20): número médio de gateways alcançáveis por sensor.
- Penalidade de cobertura: 2,0×(1−ρ) pune fortemente sensores sem sinal.
- Penalidade de orçamento: 0,5×excesso pune violações de C2.
As restrições C2 e C3 são garantidas deterministicamente por repair_budget() e clamp_d().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– IMPLEMENTAÇÃO
O sistema foi implementado integralmente em C99 com 6 módulos funcionais coesos, sem nenhuma biblioteca externa de otimização — somente stdio.h, stdlib.h, math.h, string.h e time.h.
DESTAQUES DE IMPLEMENTAÇÃO:
1. STRUCT CHROMO: Representação mista com active[15] (binário) + pos[15][3] (real) + fitness. Tamanho de 428 bytes por cromossomo permite 2 populações de 120 indivíduos em ~102,7 KB de memória.
2. CROSSOVER: Dois tipos alternados aleatoriamente — 1 ponto e 2 pontos — operam simultaneamente sobre os genes binários e reais, aumentando a diversidade de recombinação.
3. MUTAÇÃO MISTA: Bit-flip (p=4%) para genes binários e perturbação Gaussiana N(0,σ) com σ_XY=5m e σ_Z=1,5m para coordenadas contínuas. Gerador Box-Muller implementado nativamente.
4. REPAIR_BUDGET: Garante deterministicamente 1 ≤ |G*| ≤ 5 após toda operação de variação, eliminando indivíduos estruturalmente inviáveis antes da avaliação de aptidão.
5. QSORT: Baseado no algoritmo de ordenação descrito em Cormen et al. [4], executa em O(N log N) = O(120 log 120) ≈ 840 comparações por geração.
Compilar com: gcc -O2 iiot_ga_1_.c -lm -o iiot_ga &amp;&amp; ./iiot_ga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– ANÁLISE DE COMPLEXIDADE
A análise formal está fundamentada em Cormen et al. [4] (Introduction to Algorithms, 3ª ed.).
FUNÇÕES DE CUSTO FIXO O(1):
- segment_hits_obstacle(): algoritmo de Liang-Barsky com número fixo de operações aritméticas.
- compute_rssi(): uma chamada log10() + uma chamada a extra_attenuation() com 4 obstáculos fixos.
- sel_tournament(): amostra k_T=5 índices — custo constante independente de N.
AVALIAÇÃO DE APTIDÃO O(n·m):
eval_fitness() chama 4 funções, cada uma com duplo laço O(n·m) = O(20×15) = 300 operações por indivíduo.
CICLO GERACIONAL O(N·n·m):
- Ordenação: qsort O(N log N) = O(120 log 120) ≈ 840 comparações [4].
- Geração de N-k filhos: cada filho requer seleção + cruzamento + mutação + avaliação = O(n·m) dominante.
- Roleta adiciona O(N) por seleção, mas N·n·m = 36.000 domina N² = 14.400 para os valores concretos.
COMPLEXIDADE TOTAL:
O(G_max × N × n × m) = O(600 × 120 × 20 × 15) ≈ 21,6 milhões de operações elementares.
Vs. força bruta O(2^15 × 20) = O(655.360) de alto custo unitário (busca contínua em ℝ³ em cada nó).
Complexidade espacial O(N·m) ≈ 102,7 KB — adequado para embarcados industriais [2].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– OPERADORES DE SELEÇÃO
A comparação entre os dois operadores de seleção é uma das contribuições experimentais do trabalho.
TORNEIO ESTOCÁSTICO [1]:
A cada seleção, k_T=5 indivíduos são amostrados e o de maior aptidão vence. Custo O(1) — independente do tamanho da população. A pressão de seleção é controlada pelo parâmetro k_T: aumentar k aumenta pressão. Mais robusto em espaços multimodais porque preserva diversidade por mais gerações.
ROLETA VICIADA [1]:
P(i) = f_shifted(i) / Σf_shifted(j). Aptidões são deslocadas para positividade antes da normalização. Custo O(N) por seleção — dois varrimentos lineares sobre a população. Convergência inicial mais rápida porque os melhores indivíduos acumulam uma fração desproporcional das seleções. Risco: quando a população homogeneíza (aptidões similares), todos têm probabilidades iguais — roleta vira seleção uniforme.
SEMENTE INDEPENDENTE:
Os dois experimentos usam sementes distintas: seed e seed+7919 (primo), garantindo que os espaços de busca amostrados inicialmente sejam estatisticamente independentes.
Os resultados são exportados em hist_torneio.csv e hist_roleta.csv para análise com plot_resultados.py.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– AMBIENTE E RESULTADOS
AMBIENTE DE SIMULAÇÃO:
Planta de 100×100×10m com 20 sensores em grade 5×4 e 4 obstáculos industriais que criam zonas de sombra.
Os 15 candidatos a gateway cobrem regiões central, periférica e de canto com altura inicial 5m.
COMO PREENCHER A TABELA:
1. Compilar: gcc -O2 iiot_ga_1_.c -lm -o iiot_ga
2. Executar: ./iiot_ga
3. O programa imprime automaticamente a tabela comparativa final com todos os valores.
4. Os arquivos hist_torneio.csv e hist_roleta.csv são gerados para plot_resultados.py.
ANÁLISE ESPERADA [1]:
- Torneio tende a convergência g* maior (mais gerações) mas F_best maior (melhor qualidade).
- Roleta tende a convergência g* menor (rápida) mas pode estagnar antes do ótimo.
- Ambos devem atingir ρ_cob = 100% (cobertura total) dentro do orçamento |G*| ≤ 5.
VISUALIZAÇÃO:
python3 plot_resultados.py gera 4 gráficos: curva de convergência, aptidão média, comparativo sobrepostos e ganho marginal por geração.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– APLICAÇÃO PRÁTICA
O motor de otimização tem aplicação direta no planejamento de redes IIoT para MANUTENÇÃO PREDITIVA em plantas de manufatura, mineração e processamento de alimentos.
FLUXO DE IMPLANTAÇÃO PRÁTICO:
Etapa 1 — Levantamento: o engenheiro mapeia as coordenadas dos pontos obrigatórios de monitoramento (posições dos sensores) e das posições candidatas a gateway permitidas pela infraestrutura elétrica e estrutural.
Etapa 2 — Configuração: parâmetros inseridos em setup_environment(). gcc -O2 iiot_ga_1_.c -lm -o iiot_ga. Tempo de execução da ordem de segundos para a instância de 20 sensores, 15 candidatos, 600 gerações.
Etapa 3 — Análise: o mapa ASCII 54×27 mostra visualmente onde os gateways foram posicionados. A tabela de RSSI por par sensor-gateway confirma a viabilidade. Os CSVs alimentam plot_resultados.py que gera 4 gráficos automaticamente.
Etapa 4 — Implantação: gateways instalados nas coordenadas (x*,y*,z*) da melhor solução. RSSI ≥ -90dBm garante conexão estável de todos os sensores ESP32 com ao menos um gateway [2].
ESCALABILIDADE [3]:
Para plantas maiores com n&gt;100 sensores e m&gt;50 candidatos, apenas N e G_max precisam ser ajustados. A arquitetura modular do código não requer reescrita.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– CONCLUSÃO E REFERÊNCIAS
SÍNTESE DO TRABALHO:
Desenvolvemos um motor de otimização evolutiva completo em C99 para a síntese topológica automatizada de redes IIoT em plantas industriais, com as seguintes contribuições principais:
1. Representação cromossômica mista (binária + real) que explora simultaneamente o espaço combinatório de ativação de gateways e o espaço contínuo de posicionamento 3D, conforme Janikow &amp; Clair [1].
2. Modelo físico de propagação com detecção de obstáculos via Liang-Barsky, mais realista que o modelo de disco unitário [2].
3. Comparação quantitativa entre Torneio (O(1)) e Roleta (O(N)) sobre a mesma instância industrial, com exportação automática de CSVs e visualização via plot_resultados.py.
4. Análise de complexidade formal O(G·N·n·m) completamente fundamentada em Cormen et al. [4], provando a eficiência exponencial sobre a busca exaustiva.
TRABALHOS FUTUROS:
- Sombreamento estocástico X_σ ~ N(0,σ_shadowing) tornaria o modelo ainda mais realista.
- NSGA-II produziria a Fronteira de Pareto explícita entre vida útil, latência e redundância.
- Validação com medições físicas de RSSI calibraria o expoente γ para a planta específica.
Obrigado. Estamos à disposição para perguntas.
REPOSITÓRIO: github.com/[usuario]/FP_DCC606_Tema_5_RR_2026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PROJETO FINAL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Otimização Topológica de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Redes IIoT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0"/>
                </a:solidFill>
              </a:rPr>
              <a:t>para Monitoramento Preditivo em Ambientes Industriais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114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</a:rPr>
              <a:t>Uma Abordagem Baseada em Algoritmos Genéticos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C4D0"/>
                </a:solidFill>
              </a:rPr>
              <a:t>Disciplina: </a:t>
            </a:r>
            <a:pPr indent="0" marL="0">
              <a:buNone/>
            </a:pPr>
            <a:r>
              <a:rPr lang="en-US" sz="1100" dirty="0">
                <a:solidFill>
                  <a:srgbClr val="B0C4D0"/>
                </a:solidFill>
              </a:rPr>
              <a:t>DCC606 – Análise de Algoritmos  |  UFRR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C4D0"/>
                </a:solidFill>
              </a:rPr>
              <a:t>Referências: </a:t>
            </a:r>
            <a:pPr indent="0" marL="0">
              <a:buNone/>
            </a:pPr>
            <a:r>
              <a:rPr lang="en-US" sz="950" dirty="0">
                <a:solidFill>
                  <a:srgbClr val="B0C4D0"/>
                </a:solidFill>
              </a:rPr>
              <a:t>[1] Janikow &amp; Clair, 1995  ·  [2] Li et al., 2009  ·  [3] Marks, 2010  ·  [4] Cormen et al., 2009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FP_DCC606_Tema_5_RR_2026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DCC606 · Análise de Algoritmos · UFRR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2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Motivação e Problema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Ambiente Hostil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920240"/>
            <a:ext cx="2432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Estruturas metálicas, paredes de concreto e máquinas criam zonas de sombra que bloqueiam sinais Wi-Fi e BLE, tornando o modelo de disco unitário insuficiente [2].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72968" y="82296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72968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172968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Restrição Energética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82696" y="1920240"/>
            <a:ext cx="2432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Sensores ESP32 operam com bateria. Distância excessiva ao gateway força aumento de potência TX, reduzindo drasticamente a vida útil operacional.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25896" y="82296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25896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25896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Explosão Combinatória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35624" y="1920240"/>
            <a:ext cx="2432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Com m=15 candidatos: 2¹⁵ = 32.768 subconjuntos × espaço contínuo de coordenadas 3D. Busca exaustiva é intratável para escala industrial.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4206240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4281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Classificação: variante NP-difícil do Facility Location Problem combinado com o Maximum Coverage Problem [2]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18288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DCC606 · Análise de Algoritmos · UFRR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3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Fundamentação Teórica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Algoritmos Genéticos [1]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Genótipo vs Fenótipo: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cromossomo misto (binário + real) decodificado em topologia física de rede.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Pressão de Seleção: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controla exploração vs explotação. Torneio = O(1); Roleta = O(N).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Elitismo: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top-k sobrevivem intactos garantindo monotonia crescente da aptidão.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Mutação Gaussiana: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perturbações N(0,σ) nas coordenadas contínuas mantêm diversidade.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Redes IIoT / WSN [2][3][4]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MCDS (NP-difícil) [2]: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menor conjunto de gateways que domina toda a rede — fundamenta a NP-dificuldade do problema.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Modelo Log-Distância [2]: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Ploss = PL₀ + 10γ·log₁₀(d/d₀) + X_σ  com γ=2,7 para ambientes industriais.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Trade-offs Multiobjetivo [3]: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cobertura × vida útil × conectividade são conflitantes — requerem abordagem evolutiva.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qsort O(N log N) [4]: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ordenação por aptidão a cada geração usa o algoritmo heapsort/mergesort do Cormen.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Formulação Matemática do Problema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2A4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Cromossomo Misto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( a₁,…,a₁₅ ,  (x₁,y₁,z₁),…,(x₁₅,y₁₅,z₁₅)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aⱼ ∈ {0,1}  — ativar gateway j?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(xⱼ,yⱼ,zⱼ) ∈ ℝ³  — coordenadas refinadas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Tamanho: 428 bytes/cromossomo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713232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2A40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777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Modelo Log-Distância (Eq. 4)  [2]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0972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Ploss(d) = PL₀ + 10·γ·log₁₀(d/d₀) + X_σ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RSSI = P_TX − Ploss − A_obs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γ=2,7  |  d₀=1m  |  PL₀=40dB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P_TX=20dBm  |  RSSI_min=−90dBm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A_obs: Liang-Barsky (O(1)/obstáculo)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679192"/>
            <a:ext cx="8503920" cy="1389888"/>
          </a:xfrm>
          <a:prstGeom prst="roundRect">
            <a:avLst>
              <a:gd name="adj" fmla="val 6579"/>
            </a:avLst>
          </a:prstGeom>
          <a:solidFill>
            <a:srgbClr val="0A2A40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743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Função de Aptidão Multiobjetivo (Eq. 5)  [3]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7238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F(x) = 0,50 · L̂(vida útil)  −  0,30 · D̂(latência)  +  0,20 · R̂(redundância)  −  φ_cob  −  φ_bud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φ_cob = 2,0·(1−ρ_cob)    |    φ_bud = 0,5·max(0, |G*|−5)    |    Restrições: RSSI≥−90dBm  e  |G*|≤5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41605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0"/>
                </a:solidFill>
              </a:rPr>
              <a:t>C1: ∀sᵢ ∈ S, ∃gⱼ ∈ G* : RSSI(sᵢ,gⱼ) ≥ −90 dBm  (hard)     C2: |G*| ≤ M_max = 5  (hard)     C3: posição ∈ domínio [0,100]²×[2,10]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DCC606 · Análise de Algoritmos · UFRR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3840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DCC606 · Análise de Algoritmos · UFRR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5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Implementação Computacional — C99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3200400"/>
        </p:xfrm>
        <a:graphic>
          <a:graphicData uri="http://schemas.openxmlformats.org/drawingml/2006/table">
            <a:tbl>
              <a:tblPr/>
              <a:tblGrid>
                <a:gridCol w="1234440"/>
                <a:gridCol w="2926080"/>
                <a:gridCol w="3703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Módulo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Funções Principais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Responsabilidade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Ambiente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setup_environment()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Sensores, candidatos, obstáculos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Propagação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compute_rssi(), segment_hits_obstacle()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Eq.4 + Liang-Barsky O(1)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Aptidão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eval_fitness(), compute_lifetime(), compute_latency()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Eq.5 multiobjetivo O(n·m)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Seleção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sel_tournament()  O(k)  /  sel_roulette()  O(N)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Torneio vs Roleta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Variação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crossover_1pt(), crossover_2pt(), mutate(), repair_budget()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Cruzamento + mutação + reparo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Evolução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init_population(), evolve_one_generation(), run_experiment()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Ciclo geracional completo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4023360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0599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1A35"/>
                </a:solidFill>
              </a:rPr>
              <a:t>✓  Implementação 100% nativa — sem bibliotecas de otimização externas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26280" y="4023360"/>
            <a:ext cx="4297680" cy="475488"/>
          </a:xfrm>
          <a:prstGeom prst="roundRect">
            <a:avLst>
              <a:gd name="adj" fmla="val 15385"/>
            </a:avLst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405993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-O2 iiot_ga_1_.c -lm -o iiot_ga  &amp;&amp;  ./iiot_ga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4937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DCC606 · Análise de Algoritmos · UFRR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6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Análise de Complexidade Assintótica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5486400" cy="4114800"/>
        </p:xfrm>
        <a:graphic>
          <a:graphicData uri="http://schemas.openxmlformats.org/drawingml/2006/table">
            <a:tbl>
              <a:tblPr/>
              <a:tblGrid>
                <a:gridCol w="2834640"/>
                <a:gridCol w="1417320"/>
                <a:gridCol w="1234440"/>
              </a:tblGrid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Espaço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segment_hits_obstacle()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compute_rssi()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O(N_obs) = O(1)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eval_fitness()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O(n·m)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sel_tournament()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O(k_T) = O(1)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sel_roulette()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crossover_1pt / 2pt()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O(m)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O(m)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mutate()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O(m)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repair_budget()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O(m)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O(m)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evolve_one_generation() torneio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O(N·n·m)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O(N·m)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evolve_one_generation() roleta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O(N² + N·n·m)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4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O(N·m)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run_experiment() 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O(G·N·n·m)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O(N·m)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749808"/>
            <a:ext cx="2834640" cy="1920240"/>
          </a:xfrm>
          <a:prstGeom prst="roundRect">
            <a:avLst>
              <a:gd name="adj" fmla="val 476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80760" y="804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AG (meta-heurística)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133856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O(G·N·n·m)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O(600×120×20×15)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21,6 M operações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2788920"/>
            <a:ext cx="2834640" cy="1920240"/>
          </a:xfrm>
          <a:prstGeom prst="roundRect">
            <a:avLst>
              <a:gd name="adj" fmla="val 4762"/>
            </a:avLst>
          </a:prstGeom>
          <a:solidFill>
            <a:srgbClr val="4A1010"/>
          </a:solidFill>
          <a:ln w="12700">
            <a:solidFill>
              <a:srgbClr val="8B20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80760" y="28437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99"/>
                </a:solidFill>
              </a:rPr>
              <a:t>Força Bruta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0760" y="3172968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O(2^m · 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O(2^15 × 20)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655K × busca contínua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Memória total: O(N·m) ≈ 102,7 KB  — viável para embarcados [2]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58521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DCC606 · Análise de Algoritmos · UFRR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7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</a:rPr>
              <a:t>Operadores de Seleção: Torneio vs Roleta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41605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49808"/>
            <a:ext cx="4160520" cy="475488"/>
          </a:xfrm>
          <a:prstGeom prst="roundRect">
            <a:avLst>
              <a:gd name="adj" fmla="val 2307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TORNEIO ESTOCÁSTICO  k=5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316736"/>
            <a:ext cx="3886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Complexidade: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O(k) = O(1) por seleção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Pressão: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moderada e controlável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Escala de aptidão: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independente — robusta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Diversidade: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mantida por mais gerações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Risco: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convergência mais lenta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Indicado para: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espaços multimodais com múltiplos ótimos locais criados por obstáculos industriais.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41605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49808"/>
            <a:ext cx="4160520" cy="475488"/>
          </a:xfrm>
          <a:prstGeom prst="roundRect">
            <a:avLst>
              <a:gd name="adj" fmla="val 230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046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ROLETA VICIADA POR APTIDÃO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316736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Complexidade: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O(N) por seleção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Pressão: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proporcional à aptidão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Escala de aptidão: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sensível — pode distorcer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Convergência: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inicial rápida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Risco: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crowding — homogeneização precoce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</a:rPr>
              <a:t>Indicado para: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</a:rPr>
              <a:t>instâncias com poucos ótimos locais onde explotar boas soluções iniciais é vantajoso.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45537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Ambos implementados em iiot_ga_1_.c — comparação experimental exportada em hist_torneio.csv e hist_roleta.csv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67665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DCC606 · Análise de Algoritmos · UFRR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8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Ambiente de Simulação e Resultados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4389120" cy="406908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Parâmetro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Dimensões da planta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100 × 100 × 10 m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Sensores fixos (n)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20 — grade 5×4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Candidatos a gateway (m)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15 posições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Orçamento máximo (M_max)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5 gateways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Obstáculos industriais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4 (2 estruturas + 2 paredes)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Potência TX (ESP32)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20 dBm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Limiar RSSI mínimo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−90 dBm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Expoente de atenuação (γ)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2,7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Bateria / Vida máxima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5.000 mAh / 8.760 h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Gerações / População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</a:rPr>
                        <a:t>600 / 120 indivíduos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892040" y="749808"/>
            <a:ext cx="3931920" cy="406908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83480" y="822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Resultados Comparativos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161288"/>
          <a:ext cx="3840480" cy="315468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Torneio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Roleta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Melhor F_best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Convergência g*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Gateways |G*|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Cobertura ρ_cob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Vida útil (h)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Redundância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</a:rPr>
                        <a:t>Tempo CPU (ms)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937760" y="4407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Preencher com: gcc -O2 iiot_ga_1_.c -lm -o iiot_ga &amp;&amp; ./iiot_ga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77724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DCC606 · Análise de Algoritmos · UFRR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9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</a:rPr>
              <a:t>Aplicação Prática e Visualização de Resultados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80467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81381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" y="148132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</a:rPr>
              <a:t>Levantamento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455"/>
                </a:solidFill>
              </a:rPr>
              <a:t>Mapear coordenadas dos pontos de monitoramento obrigatórios e posições candidatas permitidas pela infraestrutura elétrica.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749808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80467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81381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2032" y="148132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</a:rPr>
              <a:t>Configuração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0" y="182880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455"/>
                </a:solidFill>
              </a:rPr>
              <a:t>Inserir parâmetros em setup_environment(). Compilar com gcc -O2 -lm. Execução em segundos para n=20, m=15.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749808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80467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81381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0872" y="148132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</a:rPr>
              <a:t>Análise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9160" y="182880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455"/>
                </a:solidFill>
              </a:rPr>
              <a:t>Avaliar mapa ASCII, tabelas de RSSI por par sensor-gateway e métricas de rede. Plotar curvas de convergência com plot_resultados.py.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749808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52360" y="80467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81381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39712" y="148132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</a:rPr>
              <a:t>Implantação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0" y="182880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455"/>
                </a:solidFill>
              </a:rPr>
              <a:t>Instalar gateways nas coordenadas (x*,y*,z*). RSSI ≥ −90 dBm garante conexão estável de todos os sensores ESP32.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20040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EAF4F8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73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Escalabilidade [3]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602736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</a:rPr>
              <a:t>O(G·N·n·m) permanece tratável para n&gt;100 sensores e m&gt;50 candidatos com ajuste de N e G_max. Marks [3] valida AGs com 200 sensores em hardware convencional. Modularidade do código permite adaptação sem reescrita.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20040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EAF4F8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273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plot_resultados.py — 4 Gráficos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3602736"/>
            <a:ext cx="3931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455"/>
                </a:solidFill>
              </a:rPr>
              <a:t>G1: </a:t>
            </a:r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Curva de convergência — melhor aptidão/geração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4455"/>
                </a:solidFill>
              </a:rPr>
              <a:t>G2: </a:t>
            </a:r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Evolução da aptidão média da população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4455"/>
                </a:solidFill>
              </a:rPr>
              <a:t>G3: </a:t>
            </a:r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Comparativo sobrepostos (torneio vs roleta)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4455"/>
                </a:solidFill>
              </a:rPr>
              <a:t>G4: </a:t>
            </a:r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Ganho marginal ΔF por geração (janela 30)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Conclusão e Referências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713232"/>
            <a:ext cx="5212080" cy="2240280"/>
          </a:xfrm>
          <a:prstGeom prst="roundRect">
            <a:avLst>
              <a:gd name="adj" fmla="val 4082"/>
            </a:avLst>
          </a:prstGeom>
          <a:solidFill>
            <a:srgbClr val="0A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863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Contribuições do Trabalho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115568"/>
            <a:ext cx="48920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Motor evolutivo completo em C99 — representação mista inédita para o problema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Modelo físico com obstáculos via Liang-Barsky — mais realista que disco unitário [2]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Comparação quantitativa: Torneio O(1) vs Roleta O(N) sobre mesma instância [1]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Complexidade formal O(G·N·n·m) provada com base em Cormen et al. [4]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063240"/>
            <a:ext cx="5212080" cy="1755648"/>
          </a:xfrm>
          <a:prstGeom prst="roundRect">
            <a:avLst>
              <a:gd name="adj" fmla="val 5208"/>
            </a:avLst>
          </a:prstGeom>
          <a:solidFill>
            <a:srgbClr val="0A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36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Trabalhos Futuros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0"/>
                </a:solidFill>
              </a:rPr>
              <a:t>→  Sombreamento log-normal estocástico X_σ como variável aleatória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0"/>
                </a:solidFill>
              </a:rPr>
              <a:t>→  NSGA-II para Fronteira de Pareto explícita entre objetivos conflitantes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0"/>
                </a:solidFill>
              </a:rPr>
              <a:t>→  Validação com medições físicas de RSSI em planta industrial real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0"/>
                </a:solidFill>
              </a:rPr>
              <a:t>→  Potência TX adaptativa como variável de decisão contínua adicional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97880" y="713232"/>
            <a:ext cx="2926080" cy="4114800"/>
          </a:xfrm>
          <a:prstGeom prst="roundRect">
            <a:avLst>
              <a:gd name="adj" fmla="val 3125"/>
            </a:avLst>
          </a:prstGeom>
          <a:solidFill>
            <a:srgbClr val="0A2A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7863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Referências Bibliográficas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1115568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[1] </a:t>
            </a:r>
            <a:pPr indent="0" marL="0">
              <a:buNone/>
            </a:pPr>
            <a:r>
              <a:rPr lang="en-US" sz="900" dirty="0">
                <a:solidFill>
                  <a:srgbClr val="B0C4D0"/>
                </a:solidFill>
              </a:rPr>
              <a:t>Janikow, C.; Clair, D. Simulating nature's methods of evolving the best design solution. IEEE Potentials, v.14, n.1, 1995.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[2] </a:t>
            </a:r>
            <a:pPr indent="0" marL="0">
              <a:buNone/>
            </a:pPr>
            <a:r>
              <a:rPr lang="en-US" sz="900" dirty="0">
                <a:solidFill>
                  <a:srgbClr val="B0C4D0"/>
                </a:solidFill>
              </a:rPr>
              <a:t>Li, J. et al. Connectivity, coverage and placement in WSN. Sensors, v.9, n.10, 2009. DOI: 10.3390/s91007664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[3] </a:t>
            </a:r>
            <a:pPr indent="0" marL="0">
              <a:buNone/>
            </a:pPr>
            <a:r>
              <a:rPr lang="en-US" sz="900" dirty="0">
                <a:solidFill>
                  <a:srgbClr val="B0C4D0"/>
                </a:solidFill>
              </a:rPr>
              <a:t>Marks, M. A survey of multi-objective deployment in WSN. JTIT, n.3, 2010.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[4] </a:t>
            </a:r>
            <a:pPr indent="0" marL="0">
              <a:buNone/>
            </a:pPr>
            <a:r>
              <a:rPr lang="en-US" sz="900" dirty="0">
                <a:solidFill>
                  <a:srgbClr val="B0C4D0"/>
                </a:solidFill>
              </a:rPr>
              <a:t>Cormen, T. H. et al. Introduction to Algorithms. 3.ª ed. MIT Press, 2009.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DCC606 · Análise de Algoritmos · UFRR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Otimização Topológica de Redes IIoT – Algoritmos Genéticos</dc:title>
  <dc:subject>Projeto Final – Análise de Algoritmos – DCC606</dc:subject>
  <dc:creator>DCC606 – UFRR 2026</dc:creator>
  <cp:lastModifiedBy>DCC606 – UFRR 2026</cp:lastModifiedBy>
  <cp:revision>1</cp:revision>
  <dcterms:created xsi:type="dcterms:W3CDTF">2026-06-18T02:24:13Z</dcterms:created>
  <dcterms:modified xsi:type="dcterms:W3CDTF">2026-06-18T02:24:13Z</dcterms:modified>
</cp:coreProperties>
</file>