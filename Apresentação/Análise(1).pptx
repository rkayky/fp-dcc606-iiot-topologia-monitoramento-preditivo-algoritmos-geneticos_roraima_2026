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8FE62D-B817-443D-ABD0-49F4BA19311F}">
  <a:tblStyle styleId="{958FE62D-B817-443D-ABD0-49F4BA19311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da39eeb23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eda39eeb23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SLIDE 1 – CAPA</a:t>
            </a:r>
            <a:br>
              <a:rPr lang="pt-BR"/>
            </a:br>
            <a:br>
              <a:rPr lang="pt-BR"/>
            </a:br>
            <a:r>
              <a:rPr lang="pt-BR"/>
              <a:t>Bom dia / Boa tarde a todos. Meu nome é [nome] e vou apresentar o Projeto Final da disciplina DCC606 – Análise de Algoritmos da UFRR.</a:t>
            </a:r>
            <a:br>
              <a:rPr lang="pt-BR"/>
            </a:br>
            <a:br>
              <a:rPr lang="pt-BR"/>
            </a:br>
            <a:r>
              <a:rPr lang="pt-BR"/>
              <a:t>O trabalho aborda um problema real da Indústria 4.0: como posicionar gateways de comunicação em uma planta industrial de forma a maximizar a cobertura de sensores IIoT, respeitando restrições de orçamento e de qualidade de sinal.</a:t>
            </a:r>
            <a:br>
              <a:rPr lang="pt-BR"/>
            </a:br>
            <a:br>
              <a:rPr lang="pt-BR"/>
            </a:br>
            <a:r>
              <a:rPr lang="pt-BR"/>
              <a:t>A solução proposta utiliza Algoritmos Genéticos, que são meta-heurísticas inspiradas na evolução darwiniana e amplamente estudadas na disciplina.</a:t>
            </a:r>
            <a:endParaRPr/>
          </a:p>
        </p:txBody>
      </p:sp>
      <p:sp>
        <p:nvSpPr>
          <p:cNvPr id="55" name="Google Shape;55;g3eda39eeb23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da39eeb23_2_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eda39eeb23_2_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SLIDE 2 – MOTIVAÇÃO E PROBLEMA</a:t>
            </a:r>
            <a:br>
              <a:rPr lang="pt-BR"/>
            </a:br>
            <a:br>
              <a:rPr lang="pt-BR"/>
            </a:br>
            <a:r>
              <a:rPr lang="pt-BR"/>
              <a:t>O problema central deste trabalho nasce de três desafios simultâneos em plantas industriais:</a:t>
            </a:r>
            <a:br>
              <a:rPr lang="pt-BR"/>
            </a:br>
            <a:br>
              <a:rPr lang="pt-BR"/>
            </a:br>
            <a:r>
              <a:rPr lang="pt-BR"/>
              <a:t>1. AMBIENTE HOSTIL: O modelo de disco unitário — usado em análises teóricas de WSN [2] — assume propagação circular sem obstáculos. Na prática industrial, estruturas metálicas e paredes de concreto criam zonas de sombra imprevisíveis. O nosso modelo usa a equação log-distância com γ=2,7 e algoritmo de Liang-Barsky para detecção de obstáculos.</a:t>
            </a:r>
            <a:br>
              <a:rPr lang="pt-BR"/>
            </a:br>
            <a:br>
              <a:rPr lang="pt-BR"/>
            </a:br>
            <a:r>
              <a:rPr lang="pt-BR"/>
              <a:t>2. RESTRIÇÃO ENERGÉTICA: Sensores ESP32 operam com bateria de 5.000 mAh. Quanto maior a distância ao gateway, maior a potência de transmissão necessária, reduzindo a vida útil. A função de aptidão penaliza soluções com sensores distantes.</a:t>
            </a:r>
            <a:br>
              <a:rPr lang="pt-BR"/>
            </a:br>
            <a:br>
              <a:rPr lang="pt-BR"/>
            </a:br>
            <a:r>
              <a:rPr lang="pt-BR"/>
              <a:t>3. EXPLOSÃO COMBINATÓRIA: Com 15 candidatos a gateway, existem 2^15 = 32.768 subconjuntos binários possíveis. Cada subconjunto ainda tem espaço contínuo de coordenadas 3D para otimizar. Busca exaustiva é inviável.</a:t>
            </a:r>
            <a:br>
              <a:rPr lang="pt-BR"/>
            </a:br>
            <a:br>
              <a:rPr lang="pt-BR"/>
            </a:br>
            <a:r>
              <a:rPr lang="pt-BR"/>
              <a:t>Este cenário é formalmente classificado como NP-difícil [2], o que fundamenta a escolha dos Algoritmos Genéticos.</a:t>
            </a:r>
            <a:endParaRPr/>
          </a:p>
        </p:txBody>
      </p:sp>
      <p:sp>
        <p:nvSpPr>
          <p:cNvPr id="70" name="Google Shape;70;g3eda39eeb23_2_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da39eeb23_2_4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eda39eeb23_2_4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SLIDE 3 – FUNDAMENTAÇÃO TEÓRICA</a:t>
            </a:r>
            <a:br>
              <a:rPr lang="pt-BR"/>
            </a:br>
            <a:br>
              <a:rPr lang="pt-BR"/>
            </a:br>
            <a:r>
              <a:rPr lang="pt-BR"/>
              <a:t>COLUNA ESQUERDA — Algoritmos Genéticos [1]:</a:t>
            </a:r>
            <a:br>
              <a:rPr lang="pt-BR"/>
            </a:br>
            <a:r>
              <a:rPr lang="pt-BR"/>
              <a:t>Janikow e Clair (1995) definem a distinção central entre genótipo (o cromossomo que o AG manipula) e fenótipo (a solução decodificada que é avaliada). No nosso sistema: genótipo = vetor binário de ativação + coordenadas reais; fenótipo = topologia física da rede IIoT.</a:t>
            </a:r>
            <a:br>
              <a:rPr lang="pt-BR"/>
            </a:br>
            <a:br>
              <a:rPr lang="pt-BR"/>
            </a:br>
            <a:r>
              <a:rPr lang="pt-BR"/>
              <a:t>A pressão de seleção é o parâmetro crítico: alta pressão converge rápido mas arriscamos ótimos locais. O Torneio k=5 tem custo O(1) por seleção; a Roleta tem custo O(N) — diferença relevante para populações grandes.</a:t>
            </a:r>
            <a:br>
              <a:rPr lang="pt-BR"/>
            </a:br>
            <a:br>
              <a:rPr lang="pt-BR"/>
            </a:br>
            <a:r>
              <a:rPr lang="pt-BR"/>
              <a:t>COLUNA DIREITA — Redes IIoT / WSN [2][3][4]:</a:t>
            </a:r>
            <a:br>
              <a:rPr lang="pt-BR"/>
            </a:br>
            <a:r>
              <a:rPr lang="pt-BR"/>
              <a:t>Li et al. (2009) provam que encontrar o MCDS (Minimum Connected Dominating Set) é NP-difícil [2], fundamentando nossa escolha por meta-heurística.</a:t>
            </a:r>
            <a:br>
              <a:rPr lang="pt-BR"/>
            </a:br>
            <a:br>
              <a:rPr lang="pt-BR"/>
            </a:br>
            <a:r>
              <a:rPr lang="pt-BR"/>
              <a:t>Marks (2010) sistematiza que os objetivos de cobertura, vida útil e conectividade são conflitantes [3], motivando a função de aptidão multiobjetivo.</a:t>
            </a:r>
            <a:br>
              <a:rPr lang="pt-BR"/>
            </a:br>
            <a:br>
              <a:rPr lang="pt-BR"/>
            </a:br>
            <a:r>
              <a:rPr lang="pt-BR"/>
              <a:t>Cormen et al. (2009) fornecem a base para a análise de complexidade, especialmente para o qsort O(N log N) usado na ordenação da população a cada geração [4].</a:t>
            </a:r>
            <a:endParaRPr/>
          </a:p>
        </p:txBody>
      </p:sp>
      <p:sp>
        <p:nvSpPr>
          <p:cNvPr id="92" name="Google Shape;92;g3eda39eeb23_2_4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da39eeb23_2_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eda39eeb23_2_5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SLIDE 4 – FORMULAÇÃO MATEMÁTICA</a:t>
            </a:r>
            <a:br>
              <a:rPr lang="pt-BR"/>
            </a:br>
            <a:br>
              <a:rPr lang="pt-BR"/>
            </a:br>
            <a:r>
              <a:rPr lang="pt-BR"/>
              <a:t>CROMOSSOMO MISTO:</a:t>
            </a:r>
            <a:br>
              <a:rPr lang="pt-BR"/>
            </a:br>
            <a:r>
              <a:rPr lang="pt-BR"/>
              <a:t>Cada indivíduo na população do AG é representado por um cromossomo com dois segmentos:</a:t>
            </a:r>
            <a:br>
              <a:rPr lang="pt-BR"/>
            </a:br>
            <a:r>
              <a:rPr lang="pt-BR"/>
              <a:t>- Parte binária: 15 genes active[j] ∈ {0,1} decidindo quais gateways candidatos ativar.</a:t>
            </a:r>
            <a:br>
              <a:rPr lang="pt-BR"/>
            </a:br>
            <a:r>
              <a:rPr lang="pt-BR"/>
              <a:t>- Parte real: 15×3 = 45 genes de coordenadas (x,y,z) para refinar as posições.</a:t>
            </a:r>
            <a:br>
              <a:rPr lang="pt-BR"/>
            </a:br>
            <a:r>
              <a:rPr lang="pt-BR"/>
              <a:t>Tamanho total: 15×4 + 15×3×8 + 8 = 428 bytes por cromossomo.</a:t>
            </a:r>
            <a:br>
              <a:rPr lang="pt-BR"/>
            </a:br>
            <a:br>
              <a:rPr lang="pt-BR"/>
            </a:br>
            <a:r>
              <a:rPr lang="pt-BR"/>
              <a:t>MODELO DE PROPAGAÇÃO [2]:</a:t>
            </a:r>
            <a:br>
              <a:rPr lang="pt-BR"/>
            </a:br>
            <a:r>
              <a:rPr lang="pt-BR"/>
              <a:t>A equação log-distância com γ=2,7 (ambiente industrial) calcula o RSSI esperado entre cada par sensor-gateway. O algoritmo de Liang-Barsky detecta se algum obstáculo intercepta a linha de visada, adicionando 20dB de atenuação.</a:t>
            </a:r>
            <a:br>
              <a:rPr lang="pt-BR"/>
            </a:br>
            <a:br>
              <a:rPr lang="pt-BR"/>
            </a:br>
            <a:r>
              <a:rPr lang="pt-BR"/>
              <a:t>FUNÇÃO DE APTIDÃO [3]:</a:t>
            </a:r>
            <a:br>
              <a:rPr lang="pt-BR"/>
            </a:br>
            <a:r>
              <a:rPr lang="pt-BR"/>
              <a:t>A função multiobjetivo escalarizada combina três componentes normalizadas em [0,1]:</a:t>
            </a:r>
            <a:br>
              <a:rPr lang="pt-BR"/>
            </a:br>
            <a:r>
              <a:rPr lang="pt-BR"/>
              <a:t>- Vida útil (peso 0,50): quanto maior o RSSI recebido, menor a corrente TX, maior a bateria dura.</a:t>
            </a:r>
            <a:br>
              <a:rPr lang="pt-BR"/>
            </a:br>
            <a:r>
              <a:rPr lang="pt-BR"/>
              <a:t>- Latência (peso −0,30): minimiza distância média ao gateway mais próximo.</a:t>
            </a:r>
            <a:br>
              <a:rPr lang="pt-BR"/>
            </a:br>
            <a:r>
              <a:rPr lang="pt-BR"/>
              <a:t>- Redundância (peso +0,20): número médio de gateways alcançáveis por sensor.</a:t>
            </a:r>
            <a:br>
              <a:rPr lang="pt-BR"/>
            </a:br>
            <a:r>
              <a:rPr lang="pt-BR"/>
              <a:t>- Penalidade de cobertura: 2,0×(1−ρ) pune fortemente sensores sem sinal.</a:t>
            </a:r>
            <a:br>
              <a:rPr lang="pt-BR"/>
            </a:br>
            <a:r>
              <a:rPr lang="pt-BR"/>
              <a:t>- Penalidade de orçamento: 0,5×excesso pune violações de C2.</a:t>
            </a:r>
            <a:br>
              <a:rPr lang="pt-BR"/>
            </a:br>
            <a:br>
              <a:rPr lang="pt-BR"/>
            </a:br>
            <a:r>
              <a:rPr lang="pt-BR"/>
              <a:t>As restrições C2 e C3 são garantidas deterministicamente por repair_budget() e clamp_d().</a:t>
            </a:r>
            <a:endParaRPr/>
          </a:p>
        </p:txBody>
      </p:sp>
      <p:sp>
        <p:nvSpPr>
          <p:cNvPr id="108" name="Google Shape;108;g3eda39eeb23_2_5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da39eeb23_2_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eda39eeb23_2_7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SLIDE 5 – IMPLEMENTAÇÃO</a:t>
            </a:r>
            <a:br>
              <a:rPr lang="pt-BR"/>
            </a:br>
            <a:br>
              <a:rPr lang="pt-BR"/>
            </a:br>
            <a:r>
              <a:rPr lang="pt-BR"/>
              <a:t>O sistema foi implementado integralmente em C99 com 6 módulos funcionais coesos, sem nenhuma biblioteca externa de otimização — somente stdio.h, stdlib.h, math.h, string.h e time.h.</a:t>
            </a:r>
            <a:br>
              <a:rPr lang="pt-BR"/>
            </a:br>
            <a:br>
              <a:rPr lang="pt-BR"/>
            </a:br>
            <a:r>
              <a:rPr lang="pt-BR"/>
              <a:t>DESTAQUES DE IMPLEMENTAÇÃO:</a:t>
            </a:r>
            <a:br>
              <a:rPr lang="pt-BR"/>
            </a:br>
            <a:br>
              <a:rPr lang="pt-BR"/>
            </a:br>
            <a:r>
              <a:rPr lang="pt-BR"/>
              <a:t>1. STRUCT CHROMO: Representação mista com active[15] (binário) + pos[15][3] (real) + fitness. Tamanho de 428 bytes por cromossomo permite 2 populações de 120 indivíduos em ~102,7 KB de memória.</a:t>
            </a:r>
            <a:br>
              <a:rPr lang="pt-BR"/>
            </a:br>
            <a:br>
              <a:rPr lang="pt-BR"/>
            </a:br>
            <a:r>
              <a:rPr lang="pt-BR"/>
              <a:t>2. CROSSOVER: Dois tipos alternados aleatoriamente — 1 ponto e 2 pontos — operam simultaneamente sobre os genes binários e reais, aumentando a diversidade de recombinação.</a:t>
            </a:r>
            <a:br>
              <a:rPr lang="pt-BR"/>
            </a:br>
            <a:br>
              <a:rPr lang="pt-BR"/>
            </a:br>
            <a:r>
              <a:rPr lang="pt-BR"/>
              <a:t>3. MUTAÇÃO MISTA: Bit-flip (p=4%) para genes binários e perturbação Gaussiana N(0,σ) com σ_XY=5m e σ_Z=1,5m para coordenadas contínuas. Gerador Box-Muller implementado nativamente.</a:t>
            </a:r>
            <a:br>
              <a:rPr lang="pt-BR"/>
            </a:br>
            <a:br>
              <a:rPr lang="pt-BR"/>
            </a:br>
            <a:r>
              <a:rPr lang="pt-BR"/>
              <a:t>4. REPAIR_BUDGET: Garante deterministicamente 1 ≤ |G*| ≤ 5 após toda operação de variação, eliminando indivíduos estruturalmente inviáveis antes da avaliação de aptidão.</a:t>
            </a:r>
            <a:br>
              <a:rPr lang="pt-BR"/>
            </a:br>
            <a:br>
              <a:rPr lang="pt-BR"/>
            </a:br>
            <a:r>
              <a:rPr lang="pt-BR"/>
              <a:t>5. QSORT: Baseado no algoritmo de ordenação descrito em Cormen et al. [4], executa em O(N log N) = O(120 log 120) ≈ 840 comparações por geração.</a:t>
            </a:r>
            <a:br>
              <a:rPr lang="pt-BR"/>
            </a:br>
            <a:br>
              <a:rPr lang="pt-BR"/>
            </a:br>
            <a:r>
              <a:rPr lang="pt-BR"/>
              <a:t>Compilar com: gcc -O2 iiot_ga_1_.c -lm -o iiot_ga &amp;&amp; ./iiot_ga</a:t>
            </a:r>
            <a:endParaRPr/>
          </a:p>
        </p:txBody>
      </p:sp>
      <p:sp>
        <p:nvSpPr>
          <p:cNvPr id="128" name="Google Shape;128;g3eda39eeb23_2_7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da39eeb23_2_8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eda39eeb23_2_8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SLIDE 6 – ANÁLISE DE COMPLEXIDADE</a:t>
            </a:r>
            <a:br>
              <a:rPr lang="pt-BR"/>
            </a:br>
            <a:br>
              <a:rPr lang="pt-BR"/>
            </a:br>
            <a:r>
              <a:rPr lang="pt-BR"/>
              <a:t>A análise formal está fundamentada em Cormen et al. [4] (Introduction to Algorithms, 3ª ed.).</a:t>
            </a:r>
            <a:br>
              <a:rPr lang="pt-BR"/>
            </a:br>
            <a:br>
              <a:rPr lang="pt-BR"/>
            </a:br>
            <a:r>
              <a:rPr lang="pt-BR"/>
              <a:t>FUNÇÕES DE CUSTO FIXO O(1):</a:t>
            </a:r>
            <a:br>
              <a:rPr lang="pt-BR"/>
            </a:br>
            <a:r>
              <a:rPr lang="pt-BR"/>
              <a:t>- segment_hits_obstacle(): algoritmo de Liang-Barsky com número fixo de operações aritméticas.</a:t>
            </a:r>
            <a:br>
              <a:rPr lang="pt-BR"/>
            </a:br>
            <a:r>
              <a:rPr lang="pt-BR"/>
              <a:t>- compute_rssi(): uma chamada log10() + uma chamada a extra_attenuation() com 4 obstáculos fixos.</a:t>
            </a:r>
            <a:br>
              <a:rPr lang="pt-BR"/>
            </a:br>
            <a:r>
              <a:rPr lang="pt-BR"/>
              <a:t>- sel_tournament(): amostra k_T=5 índices — custo constante independente de N.</a:t>
            </a:r>
            <a:br>
              <a:rPr lang="pt-BR"/>
            </a:br>
            <a:br>
              <a:rPr lang="pt-BR"/>
            </a:br>
            <a:r>
              <a:rPr lang="pt-BR"/>
              <a:t>AVALIAÇÃO DE APTIDÃO O(n·m):</a:t>
            </a:r>
            <a:br>
              <a:rPr lang="pt-BR"/>
            </a:br>
            <a:r>
              <a:rPr lang="pt-BR"/>
              <a:t>eval_fitness() chama 4 funções, cada uma com duplo laço O(n·m) = O(20×15) = 300 operações por indivíduo.</a:t>
            </a:r>
            <a:br>
              <a:rPr lang="pt-BR"/>
            </a:br>
            <a:br>
              <a:rPr lang="pt-BR"/>
            </a:br>
            <a:r>
              <a:rPr lang="pt-BR"/>
              <a:t>CICLO GERACIONAL O(N·n·m):</a:t>
            </a:r>
            <a:br>
              <a:rPr lang="pt-BR"/>
            </a:br>
            <a:r>
              <a:rPr lang="pt-BR"/>
              <a:t>- Ordenação: qsort O(N log N) = O(120 log 120) ≈ 840 comparações [4].</a:t>
            </a:r>
            <a:br>
              <a:rPr lang="pt-BR"/>
            </a:br>
            <a:r>
              <a:rPr lang="pt-BR"/>
              <a:t>- Geração de N-k filhos: cada filho requer seleção + cruzamento + mutação + avaliação = O(n·m) dominante.</a:t>
            </a:r>
            <a:br>
              <a:rPr lang="pt-BR"/>
            </a:br>
            <a:r>
              <a:rPr lang="pt-BR"/>
              <a:t>- Roleta adiciona O(N) por seleção, mas N·n·m = 36.000 domina N² = 14.400 para os valores concretos.</a:t>
            </a:r>
            <a:br>
              <a:rPr lang="pt-BR"/>
            </a:br>
            <a:br>
              <a:rPr lang="pt-BR"/>
            </a:br>
            <a:r>
              <a:rPr lang="pt-BR"/>
              <a:t>COMPLEXIDADE TOTAL:</a:t>
            </a:r>
            <a:br>
              <a:rPr lang="pt-BR"/>
            </a:br>
            <a:r>
              <a:rPr lang="pt-BR"/>
              <a:t>O(G_max × N × n × m) = O(600 × 120 × 20 × 15) ≈ 21,6 milhões de operações elementares.</a:t>
            </a:r>
            <a:br>
              <a:rPr lang="pt-BR"/>
            </a:br>
            <a:br>
              <a:rPr lang="pt-BR"/>
            </a:br>
            <a:r>
              <a:rPr lang="pt-BR"/>
              <a:t>Vs. força bruta O(2^15 × 20) = O(655.360) de alto custo unitário (busca contínua em ℝ³ em cada nó).</a:t>
            </a:r>
            <a:br>
              <a:rPr lang="pt-BR"/>
            </a:br>
            <a:br>
              <a:rPr lang="pt-BR"/>
            </a:br>
            <a:r>
              <a:rPr lang="pt-BR"/>
              <a:t>Complexidade espacial O(N·m) ≈ 102,7 KB — adequado para embarcados industriais [2].</a:t>
            </a:r>
            <a:endParaRPr/>
          </a:p>
        </p:txBody>
      </p:sp>
      <p:sp>
        <p:nvSpPr>
          <p:cNvPr id="139" name="Google Shape;139;g3eda39eeb23_2_8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da39eeb23_2_1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eda39eeb23_2_10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SLIDE 7 – OPERADORES DE SELEÇÃO</a:t>
            </a:r>
            <a:br>
              <a:rPr lang="pt-BR"/>
            </a:br>
            <a:br>
              <a:rPr lang="pt-BR"/>
            </a:br>
            <a:r>
              <a:rPr lang="pt-BR"/>
              <a:t>A comparação entre os dois operadores de seleção é uma das contribuições experimentais do trabalho.</a:t>
            </a:r>
            <a:br>
              <a:rPr lang="pt-BR"/>
            </a:br>
            <a:br>
              <a:rPr lang="pt-BR"/>
            </a:br>
            <a:r>
              <a:rPr lang="pt-BR"/>
              <a:t>TORNEIO ESTOCÁSTICO [1]:</a:t>
            </a:r>
            <a:br>
              <a:rPr lang="pt-BR"/>
            </a:br>
            <a:r>
              <a:rPr lang="pt-BR"/>
              <a:t>A cada seleção, k_T=5 indivíduos são amostrados e o de maior aptidão vence. Custo O(1) — independente do tamanho da população. A pressão de seleção é controlada pelo parâmetro k_T: aumentar k aumenta pressão. Mais robusto em espaços multimodais porque preserva diversidade por mais gerações.</a:t>
            </a:r>
            <a:br>
              <a:rPr lang="pt-BR"/>
            </a:br>
            <a:br>
              <a:rPr lang="pt-BR"/>
            </a:br>
            <a:r>
              <a:rPr lang="pt-BR"/>
              <a:t>ROLETA VICIADA [1]:</a:t>
            </a:r>
            <a:br>
              <a:rPr lang="pt-BR"/>
            </a:br>
            <a:r>
              <a:rPr lang="pt-BR"/>
              <a:t>P(i) = f_shifted(i) / Σf_shifted(j). Aptidões são deslocadas para positividade antes da normalização. Custo O(N) por seleção — dois varrimentos lineares sobre a população. Convergência inicial mais rápida porque os melhores indivíduos acumulam uma fração desproporcional das seleções. Risco: quando a população homogeneíza (aptidões similares), todos têm probabilidades iguais — roleta vira seleção uniforme.</a:t>
            </a:r>
            <a:br>
              <a:rPr lang="pt-BR"/>
            </a:br>
            <a:br>
              <a:rPr lang="pt-BR"/>
            </a:br>
            <a:r>
              <a:rPr lang="pt-BR"/>
              <a:t>SEMENTE INDEPENDENTE:</a:t>
            </a:r>
            <a:br>
              <a:rPr lang="pt-BR"/>
            </a:br>
            <a:r>
              <a:rPr lang="pt-BR"/>
              <a:t>Os dois experimentos usam sementes distintas: seed e seed+7919 (primo), garantindo que os espaços de busca amostrados inicialmente sejam estatisticamente independentes.</a:t>
            </a:r>
            <a:br>
              <a:rPr lang="pt-BR"/>
            </a:br>
            <a:br>
              <a:rPr lang="pt-BR"/>
            </a:br>
            <a:r>
              <a:rPr lang="pt-BR"/>
              <a:t>Os resultados são exportados em hist_torneio.csv e hist_roleta.csv para análise com plot_resultados.py.</a:t>
            </a:r>
            <a:endParaRPr/>
          </a:p>
        </p:txBody>
      </p:sp>
      <p:sp>
        <p:nvSpPr>
          <p:cNvPr id="156" name="Google Shape;156;g3eda39eeb23_2_10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da39eeb23_2_1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eda39eeb23_2_12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SLIDE 8 – AMBIENTE E RESULTADOS</a:t>
            </a:r>
            <a:br>
              <a:rPr lang="pt-BR"/>
            </a:br>
            <a:br>
              <a:rPr lang="pt-BR"/>
            </a:br>
            <a:r>
              <a:rPr lang="pt-BR"/>
              <a:t>AMBIENTE DE SIMULAÇÃO:</a:t>
            </a:r>
            <a:br>
              <a:rPr lang="pt-BR"/>
            </a:br>
            <a:r>
              <a:rPr lang="pt-BR"/>
              <a:t>Planta de 100×100×10m com 20 sensores em grade 5×4 e 4 obstáculos industriais que criam zonas de sombra.</a:t>
            </a:r>
            <a:br>
              <a:rPr lang="pt-BR"/>
            </a:br>
            <a:r>
              <a:rPr lang="pt-BR"/>
              <a:t>Os 15 candidatos a gateway cobrem regiões central, periférica e de canto com altura inicial 5m.</a:t>
            </a:r>
            <a:br>
              <a:rPr lang="pt-BR"/>
            </a:br>
            <a:br>
              <a:rPr lang="pt-BR"/>
            </a:br>
            <a:r>
              <a:rPr lang="pt-BR"/>
              <a:t>COMO PREENCHER A TABELA:</a:t>
            </a:r>
            <a:br>
              <a:rPr lang="pt-BR"/>
            </a:br>
            <a:r>
              <a:rPr lang="pt-BR"/>
              <a:t>1. Compilar: gcc -O2 iiot_ga_1_.c -lm -o iiot_ga</a:t>
            </a:r>
            <a:br>
              <a:rPr lang="pt-BR"/>
            </a:br>
            <a:r>
              <a:rPr lang="pt-BR"/>
              <a:t>2. Executar: ./iiot_ga</a:t>
            </a:r>
            <a:br>
              <a:rPr lang="pt-BR"/>
            </a:br>
            <a:r>
              <a:rPr lang="pt-BR"/>
              <a:t>3. O programa imprime automaticamente a tabela comparativa final com todos os valores.</a:t>
            </a:r>
            <a:br>
              <a:rPr lang="pt-BR"/>
            </a:br>
            <a:r>
              <a:rPr lang="pt-BR"/>
              <a:t>4. Os arquivos hist_torneio.csv e hist_roleta.csv são gerados para plot_resultados.py.</a:t>
            </a:r>
            <a:br>
              <a:rPr lang="pt-BR"/>
            </a:br>
            <a:br>
              <a:rPr lang="pt-BR"/>
            </a:br>
            <a:r>
              <a:rPr lang="pt-BR"/>
              <a:t>ANÁLISE ESPERADA [1]:</a:t>
            </a:r>
            <a:br>
              <a:rPr lang="pt-BR"/>
            </a:br>
            <a:r>
              <a:rPr lang="pt-BR"/>
              <a:t>- Torneio tende a convergência g* maior (mais gerações) mas F_best maior (melhor qualidade).</a:t>
            </a:r>
            <a:br>
              <a:rPr lang="pt-BR"/>
            </a:br>
            <a:r>
              <a:rPr lang="pt-BR"/>
              <a:t>- Roleta tende a convergência g* menor (rápida) mas pode estagnar antes do ótimo.</a:t>
            </a:r>
            <a:br>
              <a:rPr lang="pt-BR"/>
            </a:br>
            <a:r>
              <a:rPr lang="pt-BR"/>
              <a:t>- Ambos devem atingir ρ_cob = 100% (cobertura total) dentro do orçamento |G*| ≤ 5.</a:t>
            </a:r>
            <a:br>
              <a:rPr lang="pt-BR"/>
            </a:br>
            <a:br>
              <a:rPr lang="pt-BR"/>
            </a:br>
            <a:r>
              <a:rPr lang="pt-BR"/>
              <a:t>VISUALIZAÇÃO:</a:t>
            </a:r>
            <a:br>
              <a:rPr lang="pt-BR"/>
            </a:br>
            <a:r>
              <a:rPr lang="pt-BR"/>
              <a:t>python3 plot_resultados.py gera 4 gráficos: curva de convergência, aptidão média, comparativo sobrepostos e ganho marginal por geração.</a:t>
            </a:r>
            <a:endParaRPr/>
          </a:p>
        </p:txBody>
      </p:sp>
      <p:sp>
        <p:nvSpPr>
          <p:cNvPr id="175" name="Google Shape;175;g3eda39eeb23_2_12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da39eeb23_2_13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eda39eeb23_2_13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SLIDE 9 – APLICAÇÃO PRÁTICA</a:t>
            </a:r>
            <a:br>
              <a:rPr lang="pt-BR"/>
            </a:br>
            <a:br>
              <a:rPr lang="pt-BR"/>
            </a:br>
            <a:r>
              <a:rPr lang="pt-BR"/>
              <a:t>O motor de otimização tem aplicação direta no planejamento de redes IIoT para MANUTENÇÃO PREDITIVA em plantas de manufatura, mineração e processamento de alimentos.</a:t>
            </a:r>
            <a:br>
              <a:rPr lang="pt-BR"/>
            </a:br>
            <a:br>
              <a:rPr lang="pt-BR"/>
            </a:br>
            <a:r>
              <a:rPr lang="pt-BR"/>
              <a:t>FLUXO DE IMPLANTAÇÃO PRÁTICO:</a:t>
            </a:r>
            <a:br>
              <a:rPr lang="pt-BR"/>
            </a:br>
            <a:r>
              <a:rPr lang="pt-BR"/>
              <a:t>Etapa 1 — Levantamento: o engenheiro mapeia as coordenadas dos pontos obrigatórios de monitoramento (posições dos sensores) e das posições candidatas a gateway permitidas pela infraestrutura elétrica e estrutural.</a:t>
            </a:r>
            <a:br>
              <a:rPr lang="pt-BR"/>
            </a:br>
            <a:br>
              <a:rPr lang="pt-BR"/>
            </a:br>
            <a:r>
              <a:rPr lang="pt-BR"/>
              <a:t>Etapa 2 — Configuração: parâmetros inseridos em setup_environment(). gcc -O2 iiot_ga_1_.c -lm -o iiot_ga. Tempo de execução da ordem de segundos para a instância de 20 sensores, 15 candidatos, 600 gerações.</a:t>
            </a:r>
            <a:br>
              <a:rPr lang="pt-BR"/>
            </a:br>
            <a:br>
              <a:rPr lang="pt-BR"/>
            </a:br>
            <a:r>
              <a:rPr lang="pt-BR"/>
              <a:t>Etapa 3 — Análise: o mapa ASCII 54×27 mostra visualmente onde os gateways foram posicionados. A tabela de RSSI por par sensor-gateway confirma a viabilidade. Os CSVs alimentam plot_resultados.py que gera 4 gráficos automaticamente.</a:t>
            </a:r>
            <a:br>
              <a:rPr lang="pt-BR"/>
            </a:br>
            <a:br>
              <a:rPr lang="pt-BR"/>
            </a:br>
            <a:r>
              <a:rPr lang="pt-BR"/>
              <a:t>Etapa 4 — Implantação: gateways instalados nas coordenadas (x*,y*,z*) da melhor solução. RSSI ≥ -90dBm garante conexão estável de todos os sensores ESP32 com ao menos um gateway [2].</a:t>
            </a:r>
            <a:br>
              <a:rPr lang="pt-BR"/>
            </a:br>
            <a:br>
              <a:rPr lang="pt-BR"/>
            </a:br>
            <a:r>
              <a:rPr lang="pt-BR"/>
              <a:t>ESCALABILIDADE [3]:</a:t>
            </a:r>
            <a:br>
              <a:rPr lang="pt-BR"/>
            </a:br>
            <a:r>
              <a:rPr lang="pt-BR"/>
              <a:t>Para plantas maiores com n&gt;100 sensores e m&gt;50 candidatos, apenas N e G_max precisam ser ajustados. A arquitetura modular do código não requer reescrita.</a:t>
            </a:r>
            <a:endParaRPr/>
          </a:p>
        </p:txBody>
      </p:sp>
      <p:sp>
        <p:nvSpPr>
          <p:cNvPr id="189" name="Google Shape;189;g3eda39eeb23_2_13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da39eeb2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eda39eeb2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da39eeb2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da39eeb2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da39eeb2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eda39eeb2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da39eeb2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eda39eeb2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da39eeb23_2_17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eda39eeb23_2_17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SLIDE 10 – CONCLUSÃO E REFERÊNCIAS</a:t>
            </a:r>
            <a:br>
              <a:rPr lang="pt-BR"/>
            </a:br>
            <a:br>
              <a:rPr lang="pt-BR"/>
            </a:br>
            <a:r>
              <a:rPr lang="pt-BR"/>
              <a:t>SÍNTESE DO TRABALHO:</a:t>
            </a:r>
            <a:br>
              <a:rPr lang="pt-BR"/>
            </a:br>
            <a:r>
              <a:rPr lang="pt-BR"/>
              <a:t>Desenvolvemos um motor de otimização evolutiva completo em C99 para a síntese topológica automatizada de redes IIoT em plantas industriais, com as seguintes contribuições principais:</a:t>
            </a:r>
            <a:br>
              <a:rPr lang="pt-BR"/>
            </a:br>
            <a:br>
              <a:rPr lang="pt-BR"/>
            </a:br>
            <a:r>
              <a:rPr lang="pt-BR"/>
              <a:t>1. Representação cromossômica mista (binária + real) que explora simultaneamente o espaço combinatório de ativação de gateways e o espaço contínuo de posicionamento 3D, conforme Janikow &amp; Clair [1].</a:t>
            </a:r>
            <a:br>
              <a:rPr lang="pt-BR"/>
            </a:br>
            <a:br>
              <a:rPr lang="pt-BR"/>
            </a:br>
            <a:r>
              <a:rPr lang="pt-BR"/>
              <a:t>2. Modelo físico de propagação com detecção de obstáculos via Liang-Barsky, mais realista que o modelo de disco unitário [2].</a:t>
            </a:r>
            <a:br>
              <a:rPr lang="pt-BR"/>
            </a:br>
            <a:br>
              <a:rPr lang="pt-BR"/>
            </a:br>
            <a:r>
              <a:rPr lang="pt-BR"/>
              <a:t>3. Comparação quantitativa entre Torneio (O(1)) e Roleta (O(N)) sobre a mesma instância industrial, com exportação automática de CSVs e visualização via plot_resultados.py.</a:t>
            </a:r>
            <a:br>
              <a:rPr lang="pt-BR"/>
            </a:br>
            <a:br>
              <a:rPr lang="pt-BR"/>
            </a:br>
            <a:r>
              <a:rPr lang="pt-BR"/>
              <a:t>4. Análise de complexidade formal O(G·N·n·m) completamente fundamentada em Cormen et al. [4], provando a eficiência exponencial sobre a busca exaustiva.</a:t>
            </a:r>
            <a:br>
              <a:rPr lang="pt-BR"/>
            </a:br>
            <a:br>
              <a:rPr lang="pt-BR"/>
            </a:br>
            <a:r>
              <a:rPr lang="pt-BR"/>
              <a:t>TRABALHOS FUTUROS:</a:t>
            </a:r>
            <a:br>
              <a:rPr lang="pt-BR"/>
            </a:br>
            <a:r>
              <a:rPr lang="pt-BR"/>
              <a:t>- Sombreamento estocástico X_σ ~ N(0,σ_shadowing) tornaria o modelo ainda mais realista.</a:t>
            </a:r>
            <a:br>
              <a:rPr lang="pt-BR"/>
            </a:br>
            <a:r>
              <a:rPr lang="pt-BR"/>
              <a:t>- NSGA-II produziria a Fronteira de Pareto explícita entre vida útil, latência e redundância.</a:t>
            </a:r>
            <a:br>
              <a:rPr lang="pt-BR"/>
            </a:br>
            <a:r>
              <a:rPr lang="pt-BR"/>
              <a:t>- Validação com medições físicas de RSSI calibraria o expoente γ para a planta específica.</a:t>
            </a:r>
            <a:br>
              <a:rPr lang="pt-BR"/>
            </a:br>
            <a:br>
              <a:rPr lang="pt-BR"/>
            </a:br>
            <a:r>
              <a:rPr lang="pt-BR"/>
              <a:t>Obrigado. Estamos à disposição para perguntas.</a:t>
            </a:r>
            <a:br>
              <a:rPr lang="pt-BR"/>
            </a:br>
            <a:br>
              <a:rPr lang="pt-BR"/>
            </a:br>
            <a:r>
              <a:rPr lang="pt-BR"/>
              <a:t>REPOSITÓRIO: github.com/[usuario]/FP_DCC606_Tema_5_RR_2026</a:t>
            </a:r>
            <a:endParaRPr/>
          </a:p>
        </p:txBody>
      </p:sp>
      <p:sp>
        <p:nvSpPr>
          <p:cNvPr id="245" name="Google Shape;245;g3eda39eeb23_2_17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1A35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1C7293">
              <a:alpha val="20000"/>
            </a:srgbClr>
          </a:solidFill>
          <a:ln cap="flat" cmpd="sng" w="12700">
            <a:solidFill>
              <a:srgbClr val="1C729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PROJETO FINAL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548640" y="82296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pt-BR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Otimização Topológica de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pt-BR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Redes IIoT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48640" y="228600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0"/>
              </a:buClr>
              <a:buSzPts val="1600"/>
              <a:buFont typeface="Calibri"/>
              <a:buNone/>
            </a:pPr>
            <a:r>
              <a:rPr b="0" i="0" lang="pt-BR" sz="1600" u="none" cap="none" strike="noStrike">
                <a:solidFill>
                  <a:srgbClr val="B0C4D0"/>
                </a:solidFill>
                <a:latin typeface="Calibri"/>
                <a:ea typeface="Calibri"/>
                <a:cs typeface="Calibri"/>
                <a:sym typeface="Calibri"/>
              </a:rPr>
              <a:t>para Monitoramento Preditivo em Ambientes Industriais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15"/>
          <p:cNvCxnSpPr/>
          <p:nvPr/>
        </p:nvCxnSpPr>
        <p:spPr>
          <a:xfrm>
            <a:off x="548640" y="2880360"/>
            <a:ext cx="4114800" cy="0"/>
          </a:xfrm>
          <a:prstGeom prst="straightConnector1">
            <a:avLst/>
          </a:prstGeom>
          <a:noFill/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5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1" lang="pt-BR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Uma Abordagem Baseada em Algoritmos Genéticos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548640" y="3749040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B0C4D0"/>
                </a:solidFill>
                <a:latin typeface="Calibri"/>
                <a:ea typeface="Calibri"/>
                <a:cs typeface="Calibri"/>
                <a:sym typeface="Calibri"/>
              </a:rPr>
              <a:t>Disciplina: </a:t>
            </a:r>
            <a:r>
              <a:rPr b="0" i="0" lang="pt-BR" sz="1100" u="none" cap="none" strike="noStrike">
                <a:solidFill>
                  <a:srgbClr val="B0C4D0"/>
                </a:solidFill>
                <a:latin typeface="Calibri"/>
                <a:ea typeface="Calibri"/>
                <a:cs typeface="Calibri"/>
                <a:sym typeface="Calibri"/>
              </a:rPr>
              <a:t>DCC606 – Análise de Algoritmos  |  UFRR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0"/>
              </a:buClr>
              <a:buSzPts val="950"/>
              <a:buFont typeface="Calibri"/>
              <a:buNone/>
            </a:pPr>
            <a:r>
              <a:rPr b="1" i="0" lang="pt-BR" sz="950" u="none" cap="none" strike="noStrike">
                <a:solidFill>
                  <a:srgbClr val="B0C4D0"/>
                </a:solidFill>
                <a:latin typeface="Calibri"/>
                <a:ea typeface="Calibri"/>
                <a:cs typeface="Calibri"/>
                <a:sym typeface="Calibri"/>
              </a:rPr>
              <a:t>Referências: </a:t>
            </a:r>
            <a:r>
              <a:rPr b="0" i="0" lang="pt-BR" sz="950" u="none" cap="none" strike="noStrike">
                <a:solidFill>
                  <a:srgbClr val="B0C4D0"/>
                </a:solidFill>
                <a:latin typeface="Calibri"/>
                <a:ea typeface="Calibri"/>
                <a:cs typeface="Calibri"/>
                <a:sym typeface="Calibri"/>
              </a:rPr>
              <a:t>[1] Janikow &amp; Clair, 1995  ·  [2] Li et al., 2009  ·  [3] Marks, 2010  ·  [4] Cormen et al., 2009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FP_DCC606_Tema_5_RR_2026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C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/>
        </p:nvSpPr>
        <p:spPr>
          <a:xfrm>
            <a:off x="0" y="4956048"/>
            <a:ext cx="9144000" cy="73200"/>
          </a:xfrm>
          <a:prstGeom prst="rect">
            <a:avLst/>
          </a:prstGeom>
          <a:solidFill>
            <a:srgbClr val="D0E8F0"/>
          </a:solidFill>
          <a:ln cap="flat" cmpd="sng" w="12700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0" y="4956048"/>
            <a:ext cx="914400" cy="7315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0" y="4846320"/>
            <a:ext cx="6400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pt-BR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DCC606 · Análise de Algoritmos · UFRR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6711600" y="4846325"/>
            <a:ext cx="243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2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i="0" lang="pt-BR" sz="2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Motivação e Problema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320040" y="822960"/>
            <a:ext cx="2651760" cy="3291840"/>
          </a:xfrm>
          <a:prstGeom prst="roundRect">
            <a:avLst>
              <a:gd fmla="val 4138" name="adj"/>
            </a:avLst>
          </a:prstGeom>
          <a:solidFill>
            <a:srgbClr val="FFFFFF"/>
          </a:solidFill>
          <a:ln cap="flat" cmpd="sng" w="12700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320040" y="960103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pt-BR" sz="19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Ambiente Hostil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511775" y="1505225"/>
            <a:ext cx="2268300" cy="17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0" i="0" lang="pt-BR" sz="12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Estruturas metálicas, paredes de concreto e máquinas criam zonas de sombra que bloqueiam sinais Wi-Fi e BLE, tornando o modelo de disco unitário insuficiente.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3172968" y="822960"/>
            <a:ext cx="2651760" cy="3291840"/>
          </a:xfrm>
          <a:prstGeom prst="roundRect">
            <a:avLst>
              <a:gd fmla="val 4138" name="adj"/>
            </a:avLst>
          </a:prstGeom>
          <a:solidFill>
            <a:srgbClr val="FFFFFF"/>
          </a:solidFill>
          <a:ln cap="flat" cmpd="sng" w="12700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3172968" y="960053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pt-BR" sz="19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Restrição Energética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480025" y="1742850"/>
            <a:ext cx="2235000" cy="14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0" i="0" lang="pt-BR" sz="12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Sensores ESP32 operam com bateria. Distância excessiva ao gateway força aumento de potência TX, reduzindo drasticamente a vida útil operacional.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6025896" y="822960"/>
            <a:ext cx="2651760" cy="3291840"/>
          </a:xfrm>
          <a:prstGeom prst="roundRect">
            <a:avLst>
              <a:gd fmla="val 4138" name="adj"/>
            </a:avLst>
          </a:prstGeom>
          <a:solidFill>
            <a:srgbClr val="FFFFFF"/>
          </a:solidFill>
          <a:ln cap="flat" cmpd="sng" w="12700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6025896" y="914400"/>
            <a:ext cx="2651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6025896" y="960153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pt-BR" sz="19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Explosão Combinatória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6135624" y="1234440"/>
            <a:ext cx="24324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0" i="0" lang="pt-BR" sz="12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Com m=15 candidatos: 2¹⁵ = 32.768 subconjuntos × espaço contínuo de coordenadas 3D. Busca exaustiva é intratável para escala industrial.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320040" y="4206240"/>
            <a:ext cx="8503920" cy="566928"/>
          </a:xfrm>
          <a:prstGeom prst="roundRect">
            <a:avLst>
              <a:gd fmla="val 12903" name="adj"/>
            </a:avLst>
          </a:prstGeom>
          <a:noFill/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411480" y="4242816"/>
            <a:ext cx="8321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lang="pt-BR" sz="125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Classificação: variante NP-difícil do Facility Location Problem combinado com o Maximum Coverage Problem</a:t>
            </a:r>
            <a:endParaRPr sz="1250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C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0" y="4956048"/>
            <a:ext cx="9144000" cy="73200"/>
          </a:xfrm>
          <a:prstGeom prst="rect">
            <a:avLst/>
          </a:prstGeom>
          <a:solidFill>
            <a:srgbClr val="D0E8F0"/>
          </a:solidFill>
          <a:ln cap="flat" cmpd="sng" w="12700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0" y="4956048"/>
            <a:ext cx="1828800" cy="7315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0" y="4846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pt-BR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DCC606 · Análise de Algoritmos · UFRR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6737800" y="4846325"/>
            <a:ext cx="2406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3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i="0" lang="pt-BR" sz="2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Fundamentação Teórica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320040" y="804672"/>
            <a:ext cx="4206240" cy="4023360"/>
          </a:xfrm>
          <a:prstGeom prst="roundRect">
            <a:avLst>
              <a:gd fmla="val 2727" name="adj"/>
            </a:avLst>
          </a:prstGeom>
          <a:solidFill>
            <a:srgbClr val="FFFFFF"/>
          </a:solidFill>
          <a:ln cap="flat" cmpd="sng" w="12700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457200" y="91440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Algoritmos Genéticos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457200" y="1410001"/>
            <a:ext cx="3931800" cy="25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Genótipo vs Fenótipo: </a:t>
            </a:r>
            <a: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cromossomo misto (binário + real) decodificado em topologia física de rede.</a:t>
            </a:r>
            <a:b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Pressão de Seleção: </a:t>
            </a:r>
            <a: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controla exploração vs explotação. Torneio = O(1); Roleta = O(N).</a:t>
            </a:r>
            <a:b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Elitismo: </a:t>
            </a:r>
            <a: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top-k sobrevivem intactos garantindo monotonia crescente da aptidão.</a:t>
            </a:r>
            <a:b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Mutação Gaussiana: </a:t>
            </a:r>
            <a: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perturbações N(0,σ) nas coordenadas contínuas mantêm diversidade.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709160" y="804672"/>
            <a:ext cx="4206240" cy="4023360"/>
          </a:xfrm>
          <a:prstGeom prst="roundRect">
            <a:avLst>
              <a:gd fmla="val 2727" name="adj"/>
            </a:avLst>
          </a:prstGeom>
          <a:solidFill>
            <a:srgbClr val="FFFFFF"/>
          </a:solidFill>
          <a:ln cap="flat" cmpd="sng" w="12700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4846320" y="1097280"/>
            <a:ext cx="3931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MCDS (NP-difícil): </a:t>
            </a:r>
            <a: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menor conjunto de gateways que domina toda a rede — fundamenta a NP-dificuldade do problema.</a:t>
            </a:r>
            <a:b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Modelo Log-Distância: </a:t>
            </a:r>
            <a: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Ploss = PL₀ + 10γ·log₁₀(d/d₀) + X_σ  com γ=2,7 para ambientes industriais.</a:t>
            </a:r>
            <a:b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Trade-offs Multiobjetiv</a:t>
            </a:r>
            <a:r>
              <a:rPr b="1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1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cobertura × vida útil × conectividade são conflitantes — requerem abordagem evolutiva.</a:t>
            </a:r>
            <a:b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qsort O(N log N): </a:t>
            </a:r>
            <a: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ordenação por aptidão a cada geração usa o algoritmo heapsort/mergesort do Cormen.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4846320" y="91440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Redes IIoT / WSN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C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D0E8F0"/>
          </a:solidFill>
          <a:ln cap="flat" cmpd="sng" w="12700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0" y="4956048"/>
            <a:ext cx="2743200" cy="7315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lang="pt-BR" sz="26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Formulação Matemática do Problema</a:t>
            </a:r>
            <a:endParaRPr b="1" sz="26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457200" y="77724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lang="pt-BR" sz="13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Cromossomo Misto</a:t>
            </a:r>
            <a:endParaRPr b="1" sz="13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480063" y="1097280"/>
            <a:ext cx="3840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lang="pt-BR" sz="105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x =</a:t>
            </a:r>
            <a:r>
              <a:rPr b="0" i="0" lang="pt-BR" sz="10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05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( a₁,…,a₁₅ ,  (x₁,y₁,z₁),…,(x₁₅,y₁₅,z₁₅) )</a:t>
            </a:r>
            <a:endParaRPr b="1" sz="1050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lang="pt-BR" sz="105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aⱼ ∈ {0,1}  — ativar gateway j?</a:t>
            </a:r>
            <a:endParaRPr b="1" sz="1050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lang="pt-BR" sz="105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(xⱼ,yⱼ,zⱼ) ∈ ℝ³  — coordenadas refinadas</a:t>
            </a:r>
            <a:endParaRPr b="1" sz="1050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lang="pt-BR" sz="105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Tamanho: 428 bytes/cromossomo</a:t>
            </a:r>
            <a:endParaRPr b="1" sz="1050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320175" y="694025"/>
            <a:ext cx="4251900" cy="1874400"/>
          </a:xfrm>
          <a:prstGeom prst="roundRect">
            <a:avLst>
              <a:gd fmla="val 4878" name="adj"/>
            </a:avLst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4800600" y="77724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lang="pt-BR" sz="13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Modelo Log-Distância</a:t>
            </a:r>
            <a:endParaRPr b="1" sz="13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800600" y="1097280"/>
            <a:ext cx="38404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lang="pt-BR" sz="105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Ploss(d) = PL₀ + 10·γ·log₁₀(d/d₀) + X_σ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lang="pt-BR" sz="105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RSSI = P_TX − Ploss − A_obs</a:t>
            </a:r>
            <a:endParaRPr b="1" sz="1050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lang="pt-BR" sz="105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γ=2,7  |  d₀=1m  |  PL₀=40dB</a:t>
            </a:r>
            <a:endParaRPr b="1" sz="1050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lang="pt-BR" sz="105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P_TX=20dBm  |  RSSI_min=−90dBm</a:t>
            </a:r>
            <a:endParaRPr b="1" sz="1050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lang="pt-BR" sz="105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A_obs: Liang-Barsky (O(1)/obstáculo)</a:t>
            </a:r>
            <a:endParaRPr b="1" sz="1050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320090" y="2640642"/>
            <a:ext cx="8503800" cy="1389900"/>
          </a:xfrm>
          <a:prstGeom prst="roundRect">
            <a:avLst>
              <a:gd fmla="val 6579" name="adj"/>
            </a:avLst>
          </a:prstGeom>
          <a:noFill/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457200" y="274320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lang="pt-BR" sz="13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Função de Aptidão Multiobjetivo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457200" y="2975959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lang="pt-BR" sz="105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max F(x) = 0,50 · L̂(vida útil)  −  0,30 · D̂(latência)  +  0,20 · R̂(redundância)  −  φ_cob  −  φ_bud</a:t>
            </a:r>
            <a:endParaRPr b="1" sz="1050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lang="pt-BR" sz="105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φ_cob = 2,0·(1−ρ_cob)    |    φ_bud = 0,5·max(0, |G*|−5)    |    Restrições: RSSI≥−90dBm  e  |G*|≤5</a:t>
            </a:r>
            <a:endParaRPr b="1" sz="1050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320040" y="416052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lang="pt-BR" sz="105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C1: ∀sᵢ ∈ S, ∃gⱼ ∈ G* : RSSI(sᵢ,gⱼ) ≥ −90 dBm  (hard)     C2: |G*| ≤ M_max = 5  (hard)     C3: posição ∈ domínio [0,100]²×[2,10]</a:t>
            </a:r>
            <a:endParaRPr b="1" sz="1050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0" y="4846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pt-BR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DCC606 · Análise de Algoritmos · UFRR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6400800" y="48463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4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4640627" y="694032"/>
            <a:ext cx="4160400" cy="1874400"/>
          </a:xfrm>
          <a:prstGeom prst="roundRect">
            <a:avLst>
              <a:gd fmla="val 4878" name="adj"/>
            </a:avLst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C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D0E8F0"/>
          </a:solidFill>
          <a:ln cap="flat" cmpd="sng" w="12700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0" y="4956048"/>
            <a:ext cx="3840480" cy="7315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/>
          <p:nvPr/>
        </p:nvSpPr>
        <p:spPr>
          <a:xfrm>
            <a:off x="0" y="4846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pt-BR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DCC606 · Análise de Algoritmos · UFRR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6400800" y="48463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5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i="0" lang="pt-BR" sz="2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Implementação Computacional — C99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5" name="Google Shape;135;p19"/>
          <p:cNvGraphicFramePr/>
          <p:nvPr/>
        </p:nvGraphicFramePr>
        <p:xfrm>
          <a:off x="320040" y="7498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{958FE62D-B817-443D-ABD0-49F4BA19311F}</a:tableStyleId>
              </a:tblPr>
              <a:tblGrid>
                <a:gridCol w="1234450"/>
                <a:gridCol w="2926075"/>
                <a:gridCol w="37033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FFFFFF"/>
                          </a:solidFill>
                        </a:rPr>
                        <a:t>Módulo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FFFFFF"/>
                          </a:solidFill>
                        </a:rPr>
                        <a:t>Funções Principais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FFFFFF"/>
                          </a:solidFill>
                        </a:rPr>
                        <a:t>Responsabilidade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Ambiente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334455"/>
                          </a:solidFill>
                        </a:rPr>
                        <a:t>setup_environment()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334455"/>
                          </a:solidFill>
                        </a:rPr>
                        <a:t>Sensores, candidatos, obstáculos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Propagação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334455"/>
                          </a:solidFill>
                        </a:rPr>
                        <a:t>compute_rssi(), segment_hits_obstacle()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334455"/>
                          </a:solidFill>
                        </a:rPr>
                        <a:t>Eq.4 + Liang-Barsky O(1)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Aptidão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334455"/>
                          </a:solidFill>
                        </a:rPr>
                        <a:t>eval_fitness(), compute_lifetime(), compute_latency()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334455"/>
                          </a:solidFill>
                        </a:rPr>
                        <a:t>Eq.5 multiobjetivo O(n·m)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Seleção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334455"/>
                          </a:solidFill>
                        </a:rPr>
                        <a:t>sel_tournament()  O(k)  /  sel_roulette()  O(N)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334455"/>
                          </a:solidFill>
                        </a:rPr>
                        <a:t>Torneio vs Roleta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Variação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334455"/>
                          </a:solidFill>
                        </a:rPr>
                        <a:t>crossover_1pt(), crossover_2pt(), mutate(), repair_budget()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334455"/>
                          </a:solidFill>
                        </a:rPr>
                        <a:t>Cruzamento + mutação + reparo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Evolução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334455"/>
                          </a:solidFill>
                        </a:rPr>
                        <a:t>init_population(), evolve_one_generation(), run_experiment()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334455"/>
                          </a:solidFill>
                        </a:rPr>
                        <a:t>Ciclo geracional completo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C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D0E8F0"/>
          </a:solidFill>
          <a:ln cap="flat" cmpd="sng" w="12700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/>
          <p:nvPr/>
        </p:nvSpPr>
        <p:spPr>
          <a:xfrm>
            <a:off x="0" y="4956048"/>
            <a:ext cx="4937760" cy="7315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0" y="4846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pt-BR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DCC606 · Análise de Algoritmos · UFRR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6400800" y="48463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6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i="0" lang="pt-BR" sz="2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Análise de Complexidade Assintótica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6" name="Google Shape;146;p20"/>
          <p:cNvGraphicFramePr/>
          <p:nvPr/>
        </p:nvGraphicFramePr>
        <p:xfrm>
          <a:off x="320040" y="7498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{958FE62D-B817-443D-ABD0-49F4BA19311F}</a:tableStyleId>
              </a:tblPr>
              <a:tblGrid>
                <a:gridCol w="2834650"/>
                <a:gridCol w="1417325"/>
                <a:gridCol w="1234450"/>
              </a:tblGrid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Função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Tempo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Espaço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Arial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segment_hits_obstacle()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Courier New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O(1)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Courier New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O(1)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Arial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compute_rssi()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Courier New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O(N_obs) = O(1)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Courier New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O(1)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Arial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eval_fitness()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Courier New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O(n·m)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Courier New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O(1)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Arial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sel_tournament()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Courier New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O(k_T) = O(1)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Courier New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O(1)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Arial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sel_roulette()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Courier New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O(N)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Courier New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O(N)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Arial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crossover_1pt / 2pt()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Courier New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O(m)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Courier New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O(m)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Arial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mutate()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Courier New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O(m)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Courier New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O(1)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Arial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repair_budget()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Courier New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O(m)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Courier New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O(m)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Arial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evolve_one_generation() torneio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Courier New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O(N·n·m)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Courier New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O(N·m)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Arial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evolve_one_generation() roleta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Courier New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O(N² + N·n·m)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950"/>
                        <a:buFont typeface="Courier New"/>
                        <a:buNone/>
                      </a:pPr>
                      <a:r>
                        <a:rPr lang="pt-BR" sz="950" u="none" cap="none" strike="noStrike">
                          <a:solidFill>
                            <a:srgbClr val="3344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O(N·m)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pt-BR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run_experiment() TOTAL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ourier New"/>
                        <a:buNone/>
                      </a:pPr>
                      <a:r>
                        <a:rPr b="1" lang="pt-BR" sz="95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O(G·N·n·m)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ourier New"/>
                        <a:buNone/>
                      </a:pPr>
                      <a:r>
                        <a:rPr b="1" lang="pt-BR" sz="95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O(N·m)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</a:tr>
            </a:tbl>
          </a:graphicData>
        </a:graphic>
      </p:graphicFrame>
      <p:sp>
        <p:nvSpPr>
          <p:cNvPr id="147" name="Google Shape;147;p20"/>
          <p:cNvSpPr/>
          <p:nvPr/>
        </p:nvSpPr>
        <p:spPr>
          <a:xfrm>
            <a:off x="5989320" y="749808"/>
            <a:ext cx="2834640" cy="1920240"/>
          </a:xfrm>
          <a:prstGeom prst="roundRect">
            <a:avLst>
              <a:gd fmla="val 4762" name="adj"/>
            </a:avLst>
          </a:prstGeom>
          <a:noFill/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0"/>
          <p:cNvSpPr/>
          <p:nvPr/>
        </p:nvSpPr>
        <p:spPr>
          <a:xfrm>
            <a:off x="6080760" y="804672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lang="pt-BR" sz="15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AG (meta-heurística)</a:t>
            </a:r>
            <a:endParaRPr b="0" i="0" sz="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6080760" y="1133856"/>
            <a:ext cx="2651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O(G·N·n·m)</a:t>
            </a:r>
            <a:endParaRPr b="0" i="0" sz="1100" u="none" cap="none" strike="noStrike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= O(600×120×20×15)</a:t>
            </a:r>
            <a:endParaRPr b="0" i="0" sz="1100" u="none" cap="none" strike="noStrike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≈ 21,6 M operações</a:t>
            </a:r>
            <a:endParaRPr b="0" i="0" sz="1100" u="none" cap="none" strike="noStrike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5989320" y="2788920"/>
            <a:ext cx="2834640" cy="1920240"/>
          </a:xfrm>
          <a:prstGeom prst="roundRect">
            <a:avLst>
              <a:gd fmla="val 4762" name="adj"/>
            </a:avLst>
          </a:prstGeom>
          <a:noFill/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t/>
            </a:r>
            <a:endParaRPr sz="1100">
              <a:solidFill>
                <a:srgbClr val="33445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6080760" y="2843784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lang="pt-BR" sz="15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Força Bruta</a:t>
            </a:r>
            <a:endParaRPr b="1" sz="15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6080760" y="3172968"/>
            <a:ext cx="2651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pt-BR" sz="1100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O(2^m · n)</a:t>
            </a:r>
            <a:endParaRPr sz="1100">
              <a:solidFill>
                <a:srgbClr val="3344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pt-BR" sz="1100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= O(2^15 × 20)</a:t>
            </a:r>
            <a:endParaRPr sz="1100">
              <a:solidFill>
                <a:srgbClr val="3344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pt-BR" sz="1100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≈ 655K × busca contínua</a:t>
            </a:r>
            <a:endParaRPr sz="1100">
              <a:solidFill>
                <a:srgbClr val="33445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D0E8F0"/>
          </a:solidFill>
          <a:ln cap="flat" cmpd="sng" w="12700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1"/>
          <p:cNvSpPr/>
          <p:nvPr/>
        </p:nvSpPr>
        <p:spPr>
          <a:xfrm>
            <a:off x="0" y="4956048"/>
            <a:ext cx="5852160" cy="7315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1"/>
          <p:cNvSpPr/>
          <p:nvPr/>
        </p:nvSpPr>
        <p:spPr>
          <a:xfrm>
            <a:off x="0" y="4846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pt-BR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DCC606 · Análise de Algoritmos · UFRR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6400800" y="48463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7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400"/>
              <a:buFont typeface="Calibri"/>
              <a:buNone/>
            </a:pPr>
            <a:r>
              <a:rPr b="1" i="0" lang="pt-BR" sz="2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Operadores de Seleção: Torneio vs Roleta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320040" y="749808"/>
            <a:ext cx="4160520" cy="374904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905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320040" y="749808"/>
            <a:ext cx="4160520" cy="475488"/>
          </a:xfrm>
          <a:prstGeom prst="roundRect">
            <a:avLst>
              <a:gd fmla="val 23077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/>
          <p:nvPr/>
        </p:nvSpPr>
        <p:spPr>
          <a:xfrm>
            <a:off x="411480" y="804672"/>
            <a:ext cx="3977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TORNEIO ESTOCÁSTICO  k=5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457200" y="1316736"/>
            <a:ext cx="38862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Complexidade: </a:t>
            </a:r>
            <a: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O(k) = O(1) por seleção</a:t>
            </a:r>
            <a:b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Pressão: </a:t>
            </a:r>
            <a: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moderada e controlável</a:t>
            </a:r>
            <a:b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Escala de aptidão: </a:t>
            </a:r>
            <a: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independente </a:t>
            </a:r>
            <a:r>
              <a:rPr lang="pt-BR" sz="105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robusta</a:t>
            </a:r>
            <a:b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Diversidade: </a:t>
            </a:r>
            <a: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mantida por mais gerações</a:t>
            </a:r>
            <a:b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Risco: </a:t>
            </a:r>
            <a: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convergência mais lenta</a:t>
            </a:r>
            <a:endParaRPr b="0" i="0" sz="1050" u="none" cap="none" strike="noStrike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b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Indicado para: </a:t>
            </a:r>
            <a: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espaços multimodais com múltiplos ótimos locais criados por obstáculos industriais.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4663440" y="749808"/>
            <a:ext cx="4160520" cy="374904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1"/>
          <p:cNvSpPr/>
          <p:nvPr/>
        </p:nvSpPr>
        <p:spPr>
          <a:xfrm>
            <a:off x="4663440" y="749808"/>
            <a:ext cx="4160520" cy="475488"/>
          </a:xfrm>
          <a:prstGeom prst="roundRect">
            <a:avLst>
              <a:gd fmla="val 23077" name="adj"/>
            </a:avLst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1"/>
          <p:cNvSpPr/>
          <p:nvPr/>
        </p:nvSpPr>
        <p:spPr>
          <a:xfrm>
            <a:off x="4754880" y="804672"/>
            <a:ext cx="3977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ROLETA VICIADA POR APTIDÃO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4754880" y="1316736"/>
            <a:ext cx="39319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Complexidade: </a:t>
            </a:r>
            <a: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O(N) por seleção</a:t>
            </a:r>
            <a:b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Pressão: </a:t>
            </a:r>
            <a: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proporcional à aptidão</a:t>
            </a:r>
            <a:b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Escala de aptidão: </a:t>
            </a:r>
            <a: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sensível, pode distorcer</a:t>
            </a:r>
            <a:b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Convergência: </a:t>
            </a:r>
            <a: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inicial rápida</a:t>
            </a:r>
            <a:b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Risco: </a:t>
            </a:r>
            <a: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crowding</a:t>
            </a:r>
            <a:r>
              <a:rPr lang="pt-BR" sz="105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, pode haver </a:t>
            </a:r>
            <a: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homogeneização precoce</a:t>
            </a:r>
            <a:b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50"/>
              <a:buFont typeface="Calibri"/>
              <a:buNone/>
            </a:pPr>
            <a:r>
              <a:rPr b="1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Indicado para: </a:t>
            </a:r>
            <a:r>
              <a:rPr b="0" i="0" lang="pt-BR" sz="10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instâncias com poucos ótimos locais onde explotar boas soluções iniciais é vantajoso.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320040" y="4553712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pt-B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Ambos implementados em iiot_ga_1_.c — comparação experimental exportada em hist_torneio.csv e hist_roleta.csv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C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D0E8F0"/>
          </a:solidFill>
          <a:ln cap="flat" cmpd="sng" w="12700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0" y="4956048"/>
            <a:ext cx="6766560" cy="7315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0" y="4846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pt-BR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DCC606 · Análise de Algoritmos · UFRR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6400800" y="48463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8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i="0" lang="pt-BR" sz="2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Ambiente de Simulação e Resultados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2" name="Google Shape;182;p22"/>
          <p:cNvGraphicFramePr/>
          <p:nvPr/>
        </p:nvGraphicFramePr>
        <p:xfrm>
          <a:off x="320040" y="7498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{958FE62D-B817-443D-ABD0-49F4BA19311F}</a:tableStyleId>
              </a:tblPr>
              <a:tblGrid>
                <a:gridCol w="2468875"/>
                <a:gridCol w="1920250"/>
              </a:tblGrid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FFFFFF"/>
                          </a:solidFill>
                        </a:rPr>
                        <a:t>Parâmetro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FFFFFF"/>
                          </a:solidFill>
                        </a:rPr>
                        <a:t>Valor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Dimensões da planta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334455"/>
                          </a:solidFill>
                        </a:rPr>
                        <a:t>100 × 100 × 10 m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Sensores fixos (n)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334455"/>
                          </a:solidFill>
                        </a:rPr>
                        <a:t>20 — grade 5×4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Candidatos a gateway (m)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334455"/>
                          </a:solidFill>
                        </a:rPr>
                        <a:t>15 posições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Orçamento máximo (M_max)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334455"/>
                          </a:solidFill>
                        </a:rPr>
                        <a:t>5 gateways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Obstáculos industriais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334455"/>
                          </a:solidFill>
                        </a:rPr>
                        <a:t>4 (2 estruturas + 2 paredes)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Potência TX (ESP32)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334455"/>
                          </a:solidFill>
                        </a:rPr>
                        <a:t>20 dBm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Limiar RSSI mínimo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334455"/>
                          </a:solidFill>
                        </a:rPr>
                        <a:t>−90 dBm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Expoente de atenuação (γ)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334455"/>
                          </a:solidFill>
                        </a:rPr>
                        <a:t>2,7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Bateria / Vida máxima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334455"/>
                          </a:solidFill>
                        </a:rPr>
                        <a:t>5.000 mAh / 8.760 h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Gerações / População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455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334455"/>
                          </a:solidFill>
                        </a:rPr>
                        <a:t>600 / 120 indivíduos</a:t>
                      </a:r>
                      <a:endParaRPr sz="10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</a:tr>
            </a:tbl>
          </a:graphicData>
        </a:graphic>
      </p:graphicFrame>
      <p:sp>
        <p:nvSpPr>
          <p:cNvPr id="183" name="Google Shape;183;p22"/>
          <p:cNvSpPr/>
          <p:nvPr/>
        </p:nvSpPr>
        <p:spPr>
          <a:xfrm>
            <a:off x="4892040" y="749808"/>
            <a:ext cx="3931920" cy="4069080"/>
          </a:xfrm>
          <a:prstGeom prst="roundRect">
            <a:avLst>
              <a:gd fmla="val 2326" name="adj"/>
            </a:avLst>
          </a:prstGeom>
          <a:solidFill>
            <a:srgbClr val="FFFFFF"/>
          </a:solidFill>
          <a:ln cap="flat" cmpd="sng" w="12700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8</a:t>
            </a:r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4983480" y="82296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Resultados Comparativos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5" name="Google Shape;185;p22"/>
          <p:cNvGraphicFramePr/>
          <p:nvPr/>
        </p:nvGraphicFramePr>
        <p:xfrm>
          <a:off x="4937760" y="1161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{958FE62D-B817-443D-ABD0-49F4BA19311F}</a:tableStyleId>
              </a:tblPr>
              <a:tblGrid>
                <a:gridCol w="1737350"/>
                <a:gridCol w="1005850"/>
                <a:gridCol w="100585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pt-BR" sz="105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b="1" sz="105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pt-BR" sz="1050">
                          <a:solidFill>
                            <a:srgbClr val="FFFFFF"/>
                          </a:solidFill>
                        </a:rPr>
                        <a:t>Torneio</a:t>
                      </a:r>
                      <a:endParaRPr b="1" sz="105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pt-BR" sz="1050">
                          <a:solidFill>
                            <a:srgbClr val="FFFFFF"/>
                          </a:solidFill>
                        </a:rPr>
                        <a:t>Roleta</a:t>
                      </a:r>
                      <a:endParaRPr b="1" sz="105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Melhor F_best</a:t>
                      </a:r>
                      <a:endParaRPr sz="100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i="1" lang="pt-BR" sz="1000">
                          <a:solidFill>
                            <a:srgbClr val="64748B"/>
                          </a:solidFill>
                        </a:rPr>
                        <a:t>0,17009</a:t>
                      </a:r>
                      <a:endParaRPr sz="100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i="1" lang="pt-BR" sz="1000">
                          <a:solidFill>
                            <a:srgbClr val="64748B"/>
                          </a:solidFill>
                        </a:rPr>
                        <a:t>0,16932</a:t>
                      </a:r>
                      <a:endParaRPr sz="100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Convergência g*</a:t>
                      </a:r>
                      <a:endParaRPr sz="100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i="1" lang="pt-BR" sz="1000">
                          <a:solidFill>
                            <a:srgbClr val="64748B"/>
                          </a:solidFill>
                        </a:rPr>
                        <a:t>42</a:t>
                      </a:r>
                      <a:endParaRPr sz="100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i="1" lang="pt-BR" sz="1000">
                          <a:solidFill>
                            <a:srgbClr val="64748B"/>
                          </a:solidFill>
                        </a:rPr>
                        <a:t>145</a:t>
                      </a:r>
                      <a:endParaRPr sz="100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Gateways |G*|</a:t>
                      </a:r>
                      <a:endParaRPr sz="100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i="1" lang="pt-BR" sz="1000">
                          <a:solidFill>
                            <a:srgbClr val="64748B"/>
                          </a:solidFill>
                        </a:rPr>
                        <a:t>5,0</a:t>
                      </a:r>
                      <a:endParaRPr sz="100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i="1" lang="pt-BR" sz="1000">
                          <a:solidFill>
                            <a:srgbClr val="64748B"/>
                          </a:solidFill>
                        </a:rPr>
                        <a:t>5,0</a:t>
                      </a:r>
                      <a:endParaRPr sz="100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Cobertura ρ_cob</a:t>
                      </a:r>
                      <a:endParaRPr sz="100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i="1" lang="pt-BR" sz="1000">
                          <a:solidFill>
                            <a:srgbClr val="64748B"/>
                          </a:solidFill>
                        </a:rPr>
                        <a:t>100,0%</a:t>
                      </a:r>
                      <a:endParaRPr sz="100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i="1" lang="pt-BR" sz="1000">
                          <a:solidFill>
                            <a:srgbClr val="64748B"/>
                          </a:solidFill>
                        </a:rPr>
                        <a:t>100,0%</a:t>
                      </a:r>
                      <a:endParaRPr sz="100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Vida útil (h)</a:t>
                      </a:r>
                      <a:endParaRPr sz="100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i="1" lang="pt-BR" sz="1000">
                          <a:solidFill>
                            <a:srgbClr val="64748B"/>
                          </a:solidFill>
                        </a:rPr>
                        <a:t>120,8</a:t>
                      </a:r>
                      <a:endParaRPr sz="100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i="1" lang="pt-BR" sz="1000">
                          <a:solidFill>
                            <a:srgbClr val="64748B"/>
                          </a:solidFill>
                        </a:rPr>
                        <a:t>120,3</a:t>
                      </a:r>
                      <a:endParaRPr sz="100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Redundância</a:t>
                      </a:r>
                      <a:endParaRPr sz="100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i="1" lang="pt-BR" sz="1000">
                          <a:solidFill>
                            <a:srgbClr val="64748B"/>
                          </a:solidFill>
                        </a:rPr>
                        <a:t>4,85</a:t>
                      </a:r>
                      <a:endParaRPr sz="100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i="1" lang="pt-BR" sz="1000">
                          <a:solidFill>
                            <a:srgbClr val="64748B"/>
                          </a:solidFill>
                        </a:rPr>
                        <a:t>4,84</a:t>
                      </a:r>
                      <a:endParaRPr sz="100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8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065A82"/>
                          </a:solidFill>
                        </a:rPr>
                        <a:t>Tempo CPU (ms)</a:t>
                      </a:r>
                      <a:endParaRPr sz="100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i="1" lang="pt-BR" sz="1000">
                          <a:solidFill>
                            <a:srgbClr val="64748B"/>
                          </a:solidFill>
                        </a:rPr>
                        <a:t>1350 </a:t>
                      </a:r>
                      <a:endParaRPr sz="100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i="1" lang="pt-BR" sz="1000">
                          <a:solidFill>
                            <a:srgbClr val="64748B"/>
                          </a:solidFill>
                        </a:rPr>
                        <a:t>1350</a:t>
                      </a:r>
                      <a:endParaRPr sz="100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C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D0E8F0"/>
          </a:solidFill>
          <a:ln cap="flat" cmpd="sng" w="12700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3"/>
          <p:cNvSpPr/>
          <p:nvPr/>
        </p:nvSpPr>
        <p:spPr>
          <a:xfrm>
            <a:off x="0" y="4956048"/>
            <a:ext cx="7772400" cy="7315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"/>
          <p:cNvSpPr/>
          <p:nvPr/>
        </p:nvSpPr>
        <p:spPr>
          <a:xfrm>
            <a:off x="0" y="4846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pt-BR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DCC606 · Análise de Algoritmos · UFRR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3"/>
          <p:cNvSpPr/>
          <p:nvPr/>
        </p:nvSpPr>
        <p:spPr>
          <a:xfrm>
            <a:off x="6400800" y="48463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9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400"/>
              <a:buFont typeface="Calibri"/>
              <a:buNone/>
            </a:pPr>
            <a:r>
              <a:rPr b="1" i="0" lang="pt-BR" sz="2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Aplicação Prática e Visualização de Resultados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320040" y="749808"/>
            <a:ext cx="1965900" cy="23316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3"/>
          <p:cNvSpPr/>
          <p:nvPr/>
        </p:nvSpPr>
        <p:spPr>
          <a:xfrm>
            <a:off x="1005840" y="867686"/>
            <a:ext cx="594300" cy="594300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3"/>
          <p:cNvSpPr/>
          <p:nvPr/>
        </p:nvSpPr>
        <p:spPr>
          <a:xfrm>
            <a:off x="1005840" y="876830"/>
            <a:ext cx="59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393192" y="1481328"/>
            <a:ext cx="18196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0" lang="pt-BR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Levantamento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411480" y="1828800"/>
            <a:ext cx="178308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Mapear coordenadas dos pontos de monitoramento obrigatórios e posições candidatas permitidas pela infraestrutura elétrica.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2468880" y="749808"/>
            <a:ext cx="1965960" cy="233172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3154680" y="880872"/>
            <a:ext cx="594300" cy="594300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3"/>
          <p:cNvSpPr/>
          <p:nvPr/>
        </p:nvSpPr>
        <p:spPr>
          <a:xfrm>
            <a:off x="3154680" y="890016"/>
            <a:ext cx="59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2542032" y="1481328"/>
            <a:ext cx="18196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0" lang="pt-BR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Configuração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2560320" y="1828800"/>
            <a:ext cx="178308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Inserir parâmetros em setup_environment(). Compilar com gcc -O2 -lm. Execução em segundos para n=20, m=15.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4617720" y="749808"/>
            <a:ext cx="1965960" cy="233172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3"/>
          <p:cNvSpPr/>
          <p:nvPr/>
        </p:nvSpPr>
        <p:spPr>
          <a:xfrm>
            <a:off x="5303520" y="880872"/>
            <a:ext cx="594300" cy="594300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3"/>
          <p:cNvSpPr/>
          <p:nvPr/>
        </p:nvSpPr>
        <p:spPr>
          <a:xfrm>
            <a:off x="5303520" y="876854"/>
            <a:ext cx="59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4690872" y="1481328"/>
            <a:ext cx="18196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0" lang="pt-BR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Análise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4709160" y="1828800"/>
            <a:ext cx="178308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Avaliar mapa ASCII, tabelas de RSSI por par sensor-gateway e métricas de rede. Plotar curvas de convergência com plot_resultados.py.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6766560" y="749808"/>
            <a:ext cx="1965960" cy="233172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7452360" y="880872"/>
            <a:ext cx="594300" cy="594300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7452425" y="859650"/>
            <a:ext cx="594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6839712" y="1481328"/>
            <a:ext cx="181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0" lang="pt-BR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Implantação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6858000" y="1828800"/>
            <a:ext cx="178308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Instalar gateways nas coordenadas (x*,y*,z*). RSSI ≥ −90 dBm garante conexão estável de todos os sensores ESP32.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320040" y="3200400"/>
            <a:ext cx="4160520" cy="1600200"/>
          </a:xfrm>
          <a:prstGeom prst="roundRect">
            <a:avLst>
              <a:gd fmla="val 5714" name="adj"/>
            </a:avLst>
          </a:prstGeom>
          <a:solidFill>
            <a:srgbClr val="EAF4F8"/>
          </a:solidFill>
          <a:ln cap="flat" cmpd="sng" w="12700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457200" y="327355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Escalabilidade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457200" y="3602736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O(G·N·n·m) permanece tratável para n&gt;100 sensores e m&gt;50 candidatos com ajuste de N e G_max. Marks </a:t>
            </a:r>
            <a:r>
              <a:rPr lang="pt-BR" sz="100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valida</a:t>
            </a:r>
            <a:r>
              <a:rPr b="0" i="0" lang="pt-BR" sz="1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 AGs com 200 sensores em hardware convencional. Modularidade do código permite adaptação sem reescrita.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4663440" y="3200400"/>
            <a:ext cx="4160520" cy="1600200"/>
          </a:xfrm>
          <a:prstGeom prst="roundRect">
            <a:avLst>
              <a:gd fmla="val 5714" name="adj"/>
            </a:avLst>
          </a:prstGeom>
          <a:solidFill>
            <a:srgbClr val="EAF4F8"/>
          </a:solidFill>
          <a:ln cap="flat" cmpd="sng" w="12700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3"/>
          <p:cNvSpPr/>
          <p:nvPr/>
        </p:nvSpPr>
        <p:spPr>
          <a:xfrm>
            <a:off x="4800600" y="327355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plot_resultados.py — 4 Gráficos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4800600" y="3602736"/>
            <a:ext cx="3931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50"/>
              <a:buFont typeface="Calibri"/>
              <a:buNone/>
            </a:pPr>
            <a:r>
              <a:rPr b="1" i="0" lang="pt-BR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G1: </a:t>
            </a:r>
            <a:r>
              <a:rPr b="0" i="0" lang="pt-BR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Curva de convergência — melhor aptidão/geração</a:t>
            </a:r>
            <a:br>
              <a:rPr b="0" i="0" lang="pt-BR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50"/>
              <a:buFont typeface="Calibri"/>
              <a:buNone/>
            </a:pPr>
            <a:r>
              <a:rPr b="1" i="0" lang="pt-BR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G2: </a:t>
            </a:r>
            <a:r>
              <a:rPr b="0" i="0" lang="pt-BR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Evolução da aptidão média da população</a:t>
            </a:r>
            <a:br>
              <a:rPr b="0" i="0" lang="pt-BR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50"/>
              <a:buFont typeface="Calibri"/>
              <a:buNone/>
            </a:pPr>
            <a:r>
              <a:rPr b="1" i="0" lang="pt-BR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G3: </a:t>
            </a:r>
            <a:r>
              <a:rPr b="0" i="0" lang="pt-BR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Comparativo sobrepostos (torneio vs roleta)</a:t>
            </a:r>
            <a:br>
              <a:rPr b="0" i="0" lang="pt-BR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50"/>
              <a:buFont typeface="Calibri"/>
              <a:buNone/>
            </a:pPr>
            <a:r>
              <a:rPr b="1" i="0" lang="pt-BR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G4: </a:t>
            </a:r>
            <a:r>
              <a:rPr b="0" i="0" lang="pt-BR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Ganho marginal ΔF por geração (janela 30)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4" title="g1_convergenc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038" y="152400"/>
            <a:ext cx="774192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5" title="g2_aptidao_med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738" y="203775"/>
            <a:ext cx="774192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6" title="g3_comparativ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075" y="233125"/>
            <a:ext cx="774192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7" title="g4_ganho_margi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038" y="196425"/>
            <a:ext cx="774192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C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D0E8F0"/>
          </a:solidFill>
          <a:ln cap="flat" cmpd="sng" w="12700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8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8"/>
          <p:cNvSpPr/>
          <p:nvPr/>
        </p:nvSpPr>
        <p:spPr>
          <a:xfrm>
            <a:off x="548640" y="164592"/>
            <a:ext cx="8412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4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Referências Bibliográficas</a:t>
            </a:r>
            <a:endParaRPr b="1" sz="24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8"/>
          <p:cNvSpPr/>
          <p:nvPr/>
        </p:nvSpPr>
        <p:spPr>
          <a:xfrm>
            <a:off x="411456" y="713225"/>
            <a:ext cx="8412600" cy="4114800"/>
          </a:xfrm>
          <a:prstGeom prst="roundRect">
            <a:avLst>
              <a:gd fmla="val 3125" name="adj"/>
            </a:avLst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8"/>
          <p:cNvSpPr/>
          <p:nvPr/>
        </p:nvSpPr>
        <p:spPr>
          <a:xfrm>
            <a:off x="525760" y="845625"/>
            <a:ext cx="8184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200"/>
              <a:buFont typeface="Calibri"/>
              <a:buChar char="-"/>
            </a:pPr>
            <a:r>
              <a:rPr b="1" lang="pt-BR" sz="120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Janikow, C.; Clair, D. Simulating nature's methods of evolving the best design solution. IEEE Potentials, v.14, n.1, 1995.</a:t>
            </a:r>
            <a:br>
              <a:rPr b="1" lang="pt-BR" sz="120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pt-BR" sz="120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200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200"/>
              <a:buFont typeface="Calibri"/>
              <a:buChar char="-"/>
            </a:pPr>
            <a:r>
              <a:rPr b="1" lang="pt-BR" sz="120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Li, J. et al. Connectivity, coverage and placement in WSN. Sensors, v.9, n.10, 2009. DOI: 10.3390/s91007664</a:t>
            </a:r>
            <a:br>
              <a:rPr b="1" lang="pt-BR" sz="120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pt-BR" sz="120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200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200"/>
              <a:buFont typeface="Calibri"/>
              <a:buChar char="-"/>
            </a:pPr>
            <a:r>
              <a:rPr b="1" lang="pt-BR" sz="120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Marks, M. A survey of multi-objective deployment in WSN. JTIT, n.3, 2010.</a:t>
            </a:r>
            <a:br>
              <a:rPr b="1" lang="pt-BR" sz="120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pt-BR" sz="120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200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200"/>
              <a:buFont typeface="Calibri"/>
              <a:buChar char="-"/>
            </a:pPr>
            <a:r>
              <a:rPr b="1" lang="pt-BR" sz="120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Cormen, T. H. et al. Introduction to Algorithms. 3.ª ed. MIT Press, 2009.</a:t>
            </a:r>
            <a:endParaRPr b="1" sz="1200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8"/>
          <p:cNvSpPr/>
          <p:nvPr/>
        </p:nvSpPr>
        <p:spPr>
          <a:xfrm>
            <a:off x="0" y="4846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pt-BR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DCC606 · Análise de Algoritmos · UFRR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8"/>
          <p:cNvSpPr/>
          <p:nvPr/>
        </p:nvSpPr>
        <p:spPr>
          <a:xfrm>
            <a:off x="6400800" y="48463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Slide 10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